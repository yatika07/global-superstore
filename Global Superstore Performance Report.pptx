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312" r:id="rId6"/>
    <p:sldId id="313" r:id="rId7"/>
    <p:sldId id="314" r:id="rId8"/>
    <p:sldId id="260" r:id="rId9"/>
    <p:sldId id="316" r:id="rId10"/>
    <p:sldId id="315" r:id="rId11"/>
    <p:sldId id="317" r:id="rId12"/>
    <p:sldId id="318" r:id="rId13"/>
    <p:sldId id="319" r:id="rId14"/>
  </p:sldIdLst>
  <p:sldSz cx="9144000" cy="5143500" type="screen16x9"/>
  <p:notesSz cx="6858000" cy="9144000"/>
  <p:embeddedFontLst>
    <p:embeddedFont>
      <p:font typeface="Manrope Medium" panose="020B0604020202020204" charset="0"/>
      <p:regular r:id="rId16"/>
      <p:bold r:id="rId17"/>
    </p:embeddedFont>
    <p:embeddedFont>
      <p:font typeface="Manrope SemiBold" panose="020B0604020202020204" charset="0"/>
      <p:regular r:id="rId18"/>
      <p:bold r:id="rId19"/>
    </p:embeddedFon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Nobile" panose="020B0604020202020204" charset="0"/>
      <p:regular r:id="rId28"/>
    </p:embeddedFont>
    <p:embeddedFont>
      <p:font typeface="Nobile Bold" panose="020B0604020202020204" charset="0"/>
      <p:regular r:id="rId29"/>
    </p:embeddedFont>
    <p:embeddedFont>
      <p:font typeface="Corben" panose="020B0604020202020204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0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8D6473-8C34-4BE5-8DE9-8044DC9211FD}">
  <a:tblStyle styleId="{6C8D6473-8C34-4BE5-8DE9-8044DC9211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81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5816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22f89187e4e_0_2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g22f89187e4e_0_2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5601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8564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22f89187e4e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6" name="Google Shape;1736;g22f89187e4e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7057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g132b9ccab91_0_2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3" name="Google Shape;1753;g132b9ccab91_0_2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638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g22f89187e4e_0_4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2" name="Google Shape;1832;g22f89187e4e_0_4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8931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46675" y="1733575"/>
            <a:ext cx="4211100" cy="135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46675" y="3233125"/>
            <a:ext cx="4211100" cy="3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1115775" y="4467744"/>
            <a:ext cx="2577160" cy="2638569"/>
            <a:chOff x="-1115775" y="4467744"/>
            <a:chExt cx="2577160" cy="2638569"/>
          </a:xfrm>
        </p:grpSpPr>
        <p:sp>
          <p:nvSpPr>
            <p:cNvPr id="12" name="Google Shape;12;p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8" name="Google Shape;28;p2"/>
          <p:cNvGrpSpPr/>
          <p:nvPr/>
        </p:nvGrpSpPr>
        <p:grpSpPr>
          <a:xfrm>
            <a:off x="5985575" y="4420825"/>
            <a:ext cx="2744275" cy="2727763"/>
            <a:chOff x="5985575" y="4420825"/>
            <a:chExt cx="2744275" cy="2727763"/>
          </a:xfrm>
        </p:grpSpPr>
        <p:sp>
          <p:nvSpPr>
            <p:cNvPr id="29" name="Google Shape;29;p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0" name="Google Shape;30;p2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736066" y="1684329"/>
                <a:ext cx="1122388" cy="1100964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800052" y="1767251"/>
                <a:ext cx="1142033" cy="1118596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946313" y="1863204"/>
                <a:ext cx="1065738" cy="1068357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>
            <a:spLocks noGrp="1"/>
          </p:cNvSpPr>
          <p:nvPr>
            <p:ph type="title"/>
          </p:nvPr>
        </p:nvSpPr>
        <p:spPr>
          <a:xfrm>
            <a:off x="1001225" y="2198225"/>
            <a:ext cx="29745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title" idx="2" hasCustomPrompt="1"/>
          </p:nvPr>
        </p:nvSpPr>
        <p:spPr>
          <a:xfrm>
            <a:off x="1001225" y="1131925"/>
            <a:ext cx="1076100" cy="100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grpSp>
        <p:nvGrpSpPr>
          <p:cNvPr id="48" name="Google Shape;48;p3"/>
          <p:cNvGrpSpPr/>
          <p:nvPr/>
        </p:nvGrpSpPr>
        <p:grpSpPr>
          <a:xfrm>
            <a:off x="-1115775" y="4467744"/>
            <a:ext cx="2577160" cy="2638569"/>
            <a:chOff x="-1115775" y="4467744"/>
            <a:chExt cx="2577160" cy="2638569"/>
          </a:xfrm>
        </p:grpSpPr>
        <p:sp>
          <p:nvSpPr>
            <p:cNvPr id="49" name="Google Shape;49;p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0" name="Google Shape;50;p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1719252" y="1684329"/>
                <a:ext cx="1139072" cy="11362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1783238" y="1767251"/>
                <a:ext cx="1158914" cy="1162960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1911210" y="1863204"/>
                <a:ext cx="1100907" cy="1094359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5" name="Google Shape;65;p3"/>
          <p:cNvGrpSpPr/>
          <p:nvPr/>
        </p:nvGrpSpPr>
        <p:grpSpPr>
          <a:xfrm flipH="1">
            <a:off x="7784993" y="4327483"/>
            <a:ext cx="2744275" cy="2727763"/>
            <a:chOff x="5985575" y="4420825"/>
            <a:chExt cx="2744275" cy="2727763"/>
          </a:xfrm>
        </p:grpSpPr>
        <p:sp>
          <p:nvSpPr>
            <p:cNvPr id="66" name="Google Shape;66;p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7" name="Google Shape;67;p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1788430" y="1684323"/>
                <a:ext cx="1070060" cy="1076696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1852417" y="1767253"/>
                <a:ext cx="1089683" cy="109432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1998677" y="1863197"/>
                <a:ext cx="1013358" cy="1007559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2" name="Google Shape;82;p3"/>
          <p:cNvGrpSpPr/>
          <p:nvPr/>
        </p:nvGrpSpPr>
        <p:grpSpPr>
          <a:xfrm>
            <a:off x="7875908" y="-2134584"/>
            <a:ext cx="2750618" cy="2741916"/>
            <a:chOff x="2724182" y="-1866850"/>
            <a:chExt cx="2750618" cy="2741916"/>
          </a:xfrm>
        </p:grpSpPr>
        <p:sp>
          <p:nvSpPr>
            <p:cNvPr id="83" name="Google Shape;83;p3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4" name="Google Shape;84;p3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5" name="Google Shape;85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1717240" y="1684321"/>
                <a:ext cx="1141347" cy="1151016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1790377" y="1767255"/>
                <a:ext cx="1151707" cy="117774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1890925" y="1863197"/>
                <a:ext cx="1121111" cy="1136637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>
            <a:spLocks noGrp="1"/>
          </p:cNvSpPr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195" name="Google Shape;195;p6"/>
          <p:cNvGrpSpPr/>
          <p:nvPr/>
        </p:nvGrpSpPr>
        <p:grpSpPr>
          <a:xfrm rot="10800000">
            <a:off x="7926802" y="-1940307"/>
            <a:ext cx="2577160" cy="2638569"/>
            <a:chOff x="-1115775" y="4467744"/>
            <a:chExt cx="2577160" cy="2638569"/>
          </a:xfrm>
        </p:grpSpPr>
        <p:sp>
          <p:nvSpPr>
            <p:cNvPr id="196" name="Google Shape;196;p6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97" name="Google Shape;197;p6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98" name="Google Shape;198;p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9" name="Google Shape;199;p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0" name="Google Shape;200;p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1" name="Google Shape;201;p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2" name="Google Shape;202;p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3" name="Google Shape;203;p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" name="Google Shape;204;p6"/>
              <p:cNvSpPr/>
              <p:nvPr/>
            </p:nvSpPr>
            <p:spPr>
              <a:xfrm>
                <a:off x="1709084" y="1684325"/>
                <a:ext cx="1149310" cy="11654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" name="Google Shape;205;p6"/>
              <p:cNvSpPr/>
              <p:nvPr/>
            </p:nvSpPr>
            <p:spPr>
              <a:xfrm>
                <a:off x="1773071" y="1767246"/>
                <a:ext cx="1169157" cy="1173957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" name="Google Shape;206;p6"/>
              <p:cNvSpPr/>
              <p:nvPr/>
            </p:nvSpPr>
            <p:spPr>
              <a:xfrm>
                <a:off x="1873618" y="1863199"/>
                <a:ext cx="1138508" cy="112354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" name="Google Shape;207;p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" name="Google Shape;208;p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" name="Google Shape;209;p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" name="Google Shape;210;p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" name="Google Shape;211;p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12" name="Google Shape;212;p6"/>
          <p:cNvGrpSpPr/>
          <p:nvPr/>
        </p:nvGrpSpPr>
        <p:grpSpPr>
          <a:xfrm>
            <a:off x="-1338809" y="4341075"/>
            <a:ext cx="2750618" cy="2741916"/>
            <a:chOff x="2724182" y="-1866850"/>
            <a:chExt cx="2750618" cy="2741916"/>
          </a:xfrm>
        </p:grpSpPr>
        <p:sp>
          <p:nvSpPr>
            <p:cNvPr id="213" name="Google Shape;213;p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14" name="Google Shape;214;p6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215" name="Google Shape;215;p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3"/>
          <p:cNvSpPr txBox="1">
            <a:spLocks noGrp="1"/>
          </p:cNvSpPr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3"/>
          <p:cNvSpPr txBox="1">
            <a:spLocks noGrp="1"/>
          </p:cNvSpPr>
          <p:nvPr>
            <p:ph type="subTitle" idx="1"/>
          </p:nvPr>
        </p:nvSpPr>
        <p:spPr>
          <a:xfrm>
            <a:off x="1746575" y="1668324"/>
            <a:ext cx="2469300" cy="7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469" name="Google Shape;469;p13"/>
          <p:cNvSpPr txBox="1">
            <a:spLocks noGrp="1"/>
          </p:cNvSpPr>
          <p:nvPr>
            <p:ph type="title" idx="2" hasCustomPrompt="1"/>
          </p:nvPr>
        </p:nvSpPr>
        <p:spPr>
          <a:xfrm>
            <a:off x="817950" y="1668324"/>
            <a:ext cx="8763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470" name="Google Shape;470;p13"/>
          <p:cNvSpPr txBox="1">
            <a:spLocks noGrp="1"/>
          </p:cNvSpPr>
          <p:nvPr>
            <p:ph type="subTitle" idx="3"/>
          </p:nvPr>
        </p:nvSpPr>
        <p:spPr>
          <a:xfrm>
            <a:off x="1746575" y="3224098"/>
            <a:ext cx="2469300" cy="7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471" name="Google Shape;471;p13"/>
          <p:cNvSpPr txBox="1">
            <a:spLocks noGrp="1"/>
          </p:cNvSpPr>
          <p:nvPr>
            <p:ph type="title" idx="4" hasCustomPrompt="1"/>
          </p:nvPr>
        </p:nvSpPr>
        <p:spPr>
          <a:xfrm>
            <a:off x="817950" y="3224098"/>
            <a:ext cx="8763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472" name="Google Shape;472;p13"/>
          <p:cNvSpPr txBox="1">
            <a:spLocks noGrp="1"/>
          </p:cNvSpPr>
          <p:nvPr>
            <p:ph type="subTitle" idx="5"/>
          </p:nvPr>
        </p:nvSpPr>
        <p:spPr>
          <a:xfrm>
            <a:off x="5808625" y="1668324"/>
            <a:ext cx="2560200" cy="7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473" name="Google Shape;473;p13"/>
          <p:cNvSpPr txBox="1">
            <a:spLocks noGrp="1"/>
          </p:cNvSpPr>
          <p:nvPr>
            <p:ph type="title" idx="6" hasCustomPrompt="1"/>
          </p:nvPr>
        </p:nvSpPr>
        <p:spPr>
          <a:xfrm>
            <a:off x="4880000" y="1668324"/>
            <a:ext cx="8763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474" name="Google Shape;474;p13"/>
          <p:cNvSpPr txBox="1">
            <a:spLocks noGrp="1"/>
          </p:cNvSpPr>
          <p:nvPr>
            <p:ph type="subTitle" idx="7"/>
          </p:nvPr>
        </p:nvSpPr>
        <p:spPr>
          <a:xfrm>
            <a:off x="5808625" y="3224098"/>
            <a:ext cx="2560200" cy="7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475" name="Google Shape;475;p13"/>
          <p:cNvSpPr txBox="1">
            <a:spLocks noGrp="1"/>
          </p:cNvSpPr>
          <p:nvPr>
            <p:ph type="title" idx="8" hasCustomPrompt="1"/>
          </p:nvPr>
        </p:nvSpPr>
        <p:spPr>
          <a:xfrm>
            <a:off x="4880000" y="3224098"/>
            <a:ext cx="8763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grpSp>
        <p:nvGrpSpPr>
          <p:cNvPr id="476" name="Google Shape;476;p13"/>
          <p:cNvGrpSpPr/>
          <p:nvPr/>
        </p:nvGrpSpPr>
        <p:grpSpPr>
          <a:xfrm>
            <a:off x="-1385268" y="4460422"/>
            <a:ext cx="2744275" cy="2727763"/>
            <a:chOff x="5985575" y="4420825"/>
            <a:chExt cx="2744275" cy="2727763"/>
          </a:xfrm>
        </p:grpSpPr>
        <p:sp>
          <p:nvSpPr>
            <p:cNvPr id="477" name="Google Shape;477;p1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78" name="Google Shape;478;p1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479" name="Google Shape;479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0" name="Google Shape;480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1" name="Google Shape;481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2" name="Google Shape;482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3" name="Google Shape;483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4" name="Google Shape;484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5" name="Google Shape;485;p13"/>
              <p:cNvSpPr/>
              <p:nvPr/>
            </p:nvSpPr>
            <p:spPr>
              <a:xfrm>
                <a:off x="1732963" y="1684323"/>
                <a:ext cx="1125421" cy="1098689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6" name="Google Shape;486;p13"/>
              <p:cNvSpPr/>
              <p:nvPr/>
            </p:nvSpPr>
            <p:spPr>
              <a:xfrm>
                <a:off x="1796949" y="1767253"/>
                <a:ext cx="1145258" cy="1143622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7" name="Google Shape;487;p13"/>
              <p:cNvSpPr/>
              <p:nvPr/>
            </p:nvSpPr>
            <p:spPr>
              <a:xfrm>
                <a:off x="1943210" y="1863197"/>
                <a:ext cx="1068918" cy="109342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8" name="Google Shape;488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9" name="Google Shape;489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0" name="Google Shape;490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1" name="Google Shape;491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2" name="Google Shape;492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93" name="Google Shape;493;p13"/>
          <p:cNvGrpSpPr/>
          <p:nvPr/>
        </p:nvGrpSpPr>
        <p:grpSpPr>
          <a:xfrm>
            <a:off x="7875908" y="-2134584"/>
            <a:ext cx="2750618" cy="2741916"/>
            <a:chOff x="2724182" y="-1866850"/>
            <a:chExt cx="2750618" cy="2741916"/>
          </a:xfrm>
        </p:grpSpPr>
        <p:sp>
          <p:nvSpPr>
            <p:cNvPr id="494" name="Google Shape;494;p13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95" name="Google Shape;495;p13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496" name="Google Shape;496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7" name="Google Shape;497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8" name="Google Shape;498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9" name="Google Shape;499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0" name="Google Shape;500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1" name="Google Shape;501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2" name="Google Shape;502;p13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3" name="Google Shape;503;p13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4" name="Google Shape;504;p13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5" name="Google Shape;505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6" name="Google Shape;506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7" name="Google Shape;507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8" name="Google Shape;508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10" name="Google Shape;510;p13"/>
          <p:cNvGrpSpPr/>
          <p:nvPr/>
        </p:nvGrpSpPr>
        <p:grpSpPr>
          <a:xfrm flipH="1">
            <a:off x="7927832" y="4405872"/>
            <a:ext cx="2577160" cy="2638569"/>
            <a:chOff x="-1115775" y="4467744"/>
            <a:chExt cx="2577160" cy="2638569"/>
          </a:xfrm>
        </p:grpSpPr>
        <p:sp>
          <p:nvSpPr>
            <p:cNvPr id="511" name="Google Shape;511;p1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12" name="Google Shape;512;p1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13" name="Google Shape;513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8" name="Google Shape;518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9" name="Google Shape;519;p13"/>
              <p:cNvSpPr/>
              <p:nvPr/>
            </p:nvSpPr>
            <p:spPr>
              <a:xfrm>
                <a:off x="1736082" y="1684323"/>
                <a:ext cx="1122388" cy="112826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0" name="Google Shape;520;p13"/>
              <p:cNvSpPr/>
              <p:nvPr/>
            </p:nvSpPr>
            <p:spPr>
              <a:xfrm>
                <a:off x="1781796" y="1767253"/>
                <a:ext cx="1160432" cy="1145707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1" name="Google Shape;521;p13"/>
              <p:cNvSpPr/>
              <p:nvPr/>
            </p:nvSpPr>
            <p:spPr>
              <a:xfrm>
                <a:off x="1891495" y="1863197"/>
                <a:ext cx="1120549" cy="114131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2" name="Google Shape;522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3" name="Google Shape;523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4" name="Google Shape;524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5" name="Google Shape;525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6" name="Google Shape;526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27" name="Google Shape;527;p13"/>
          <p:cNvGrpSpPr/>
          <p:nvPr/>
        </p:nvGrpSpPr>
        <p:grpSpPr>
          <a:xfrm rot="10800000" flipH="1">
            <a:off x="-1141068" y="-2002410"/>
            <a:ext cx="2577160" cy="2638569"/>
            <a:chOff x="-1115775" y="4467744"/>
            <a:chExt cx="2577160" cy="2638569"/>
          </a:xfrm>
        </p:grpSpPr>
        <p:sp>
          <p:nvSpPr>
            <p:cNvPr id="528" name="Google Shape;528;p1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29" name="Google Shape;529;p1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30" name="Google Shape;530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1" name="Google Shape;531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2" name="Google Shape;532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3" name="Google Shape;533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4" name="Google Shape;534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5" name="Google Shape;535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1738076" y="1684323"/>
                <a:ext cx="1120302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1747229" y="1767253"/>
                <a:ext cx="1194952" cy="117490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8" name="Google Shape;538;p13"/>
              <p:cNvSpPr/>
              <p:nvPr/>
            </p:nvSpPr>
            <p:spPr>
              <a:xfrm>
                <a:off x="1866065" y="1863197"/>
                <a:ext cx="1145991" cy="113383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9" name="Google Shape;539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0" name="Google Shape;540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1" name="Google Shape;541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2" name="Google Shape;542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3" name="Google Shape;543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_1_1_1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oogle Shape;834;p20"/>
          <p:cNvGrpSpPr/>
          <p:nvPr/>
        </p:nvGrpSpPr>
        <p:grpSpPr>
          <a:xfrm flipH="1">
            <a:off x="7799028" y="4289170"/>
            <a:ext cx="2577160" cy="2638569"/>
            <a:chOff x="-1115775" y="4467744"/>
            <a:chExt cx="2577160" cy="2638569"/>
          </a:xfrm>
        </p:grpSpPr>
        <p:sp>
          <p:nvSpPr>
            <p:cNvPr id="835" name="Google Shape;835;p20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36" name="Google Shape;836;p20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837" name="Google Shape;837;p2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8" name="Google Shape;838;p2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9" name="Google Shape;839;p2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2" name="Google Shape;842;p2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3" name="Google Shape;843;p20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4" name="Google Shape;844;p20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5" name="Google Shape;845;p20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6" name="Google Shape;846;p2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7" name="Google Shape;847;p2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8" name="Google Shape;848;p2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9" name="Google Shape;849;p2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0" name="Google Shape;850;p2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851" name="Google Shape;851;p20"/>
          <p:cNvSpPr txBox="1">
            <a:spLocks noGrp="1"/>
          </p:cNvSpPr>
          <p:nvPr>
            <p:ph type="title"/>
          </p:nvPr>
        </p:nvSpPr>
        <p:spPr>
          <a:xfrm>
            <a:off x="4709575" y="1310875"/>
            <a:ext cx="34740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>
            <a:endParaRPr/>
          </a:p>
        </p:txBody>
      </p:sp>
      <p:sp>
        <p:nvSpPr>
          <p:cNvPr id="852" name="Google Shape;852;p20"/>
          <p:cNvSpPr txBox="1">
            <a:spLocks noGrp="1"/>
          </p:cNvSpPr>
          <p:nvPr>
            <p:ph type="subTitle" idx="1"/>
          </p:nvPr>
        </p:nvSpPr>
        <p:spPr>
          <a:xfrm>
            <a:off x="4709575" y="2645425"/>
            <a:ext cx="3474000" cy="10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grpSp>
        <p:nvGrpSpPr>
          <p:cNvPr id="853" name="Google Shape;853;p20"/>
          <p:cNvGrpSpPr/>
          <p:nvPr/>
        </p:nvGrpSpPr>
        <p:grpSpPr>
          <a:xfrm>
            <a:off x="-1309043" y="4264875"/>
            <a:ext cx="2750618" cy="2741916"/>
            <a:chOff x="2724182" y="-1866850"/>
            <a:chExt cx="2750618" cy="2741916"/>
          </a:xfrm>
        </p:grpSpPr>
        <p:sp>
          <p:nvSpPr>
            <p:cNvPr id="854" name="Google Shape;854;p20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55" name="Google Shape;855;p20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56" name="Google Shape;856;p2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7" name="Google Shape;857;p2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8" name="Google Shape;858;p2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9" name="Google Shape;859;p2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0" name="Google Shape;860;p2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1" name="Google Shape;861;p2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2" name="Google Shape;862;p20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3" name="Google Shape;863;p20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4" name="Google Shape;864;p20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5" name="Google Shape;865;p2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6" name="Google Shape;866;p2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7" name="Google Shape;867;p2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8" name="Google Shape;868;p2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9" name="Google Shape;869;p2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3" name="Google Shape;1493;p33"/>
          <p:cNvGrpSpPr/>
          <p:nvPr/>
        </p:nvGrpSpPr>
        <p:grpSpPr>
          <a:xfrm rot="-5400000" flipH="1">
            <a:off x="3437125" y="4622176"/>
            <a:ext cx="2744275" cy="2727763"/>
            <a:chOff x="5985575" y="4420825"/>
            <a:chExt cx="2744275" cy="2727763"/>
          </a:xfrm>
        </p:grpSpPr>
        <p:sp>
          <p:nvSpPr>
            <p:cNvPr id="1494" name="Google Shape;1494;p3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95" name="Google Shape;1495;p3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96" name="Google Shape;1496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7" name="Google Shape;1497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8" name="Google Shape;1498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9" name="Google Shape;1499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0" name="Google Shape;1500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1" name="Google Shape;1501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2" name="Google Shape;1502;p3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3" name="Google Shape;1503;p3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4" name="Google Shape;1504;p3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5" name="Google Shape;1505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6" name="Google Shape;1506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7" name="Google Shape;1507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8" name="Google Shape;1508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9" name="Google Shape;1509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10" name="Google Shape;1510;p33"/>
          <p:cNvGrpSpPr/>
          <p:nvPr/>
        </p:nvGrpSpPr>
        <p:grpSpPr>
          <a:xfrm flipH="1">
            <a:off x="-1281575" y="-2213574"/>
            <a:ext cx="2744275" cy="2727763"/>
            <a:chOff x="5985575" y="4420825"/>
            <a:chExt cx="2744275" cy="2727763"/>
          </a:xfrm>
        </p:grpSpPr>
        <p:sp>
          <p:nvSpPr>
            <p:cNvPr id="1511" name="Google Shape;1511;p3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12" name="Google Shape;1512;p3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13" name="Google Shape;1513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4" name="Google Shape;1514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5" name="Google Shape;1515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6" name="Google Shape;1516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7" name="Google Shape;1517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8" name="Google Shape;1518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9" name="Google Shape;1519;p3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0" name="Google Shape;1520;p3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1" name="Google Shape;1521;p3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2" name="Google Shape;1522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3" name="Google Shape;1523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4" name="Google Shape;1524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5" name="Google Shape;1525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6" name="Google Shape;1526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27" name="Google Shape;1527;p33"/>
          <p:cNvGrpSpPr/>
          <p:nvPr/>
        </p:nvGrpSpPr>
        <p:grpSpPr>
          <a:xfrm rot="10800000">
            <a:off x="7848411" y="-1968494"/>
            <a:ext cx="2577160" cy="2638569"/>
            <a:chOff x="-1115775" y="4467744"/>
            <a:chExt cx="2577160" cy="2638569"/>
          </a:xfrm>
        </p:grpSpPr>
        <p:sp>
          <p:nvSpPr>
            <p:cNvPr id="1528" name="Google Shape;1528;p3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29" name="Google Shape;1529;p3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30" name="Google Shape;1530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1" name="Google Shape;1531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2" name="Google Shape;1532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3" name="Google Shape;1533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4" name="Google Shape;1534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5" name="Google Shape;1535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6" name="Google Shape;1536;p33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7" name="Google Shape;1537;p33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8" name="Google Shape;1538;p33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9" name="Google Shape;1539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0" name="Google Shape;1540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1" name="Google Shape;1541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2" name="Google Shape;1542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3" name="Google Shape;1543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5" name="Google Shape;1545;p34"/>
          <p:cNvGrpSpPr/>
          <p:nvPr/>
        </p:nvGrpSpPr>
        <p:grpSpPr>
          <a:xfrm rot="-5400000" flipH="1">
            <a:off x="-1377025" y="4468676"/>
            <a:ext cx="2744275" cy="2727763"/>
            <a:chOff x="5985575" y="4420825"/>
            <a:chExt cx="2744275" cy="2727763"/>
          </a:xfrm>
        </p:grpSpPr>
        <p:sp>
          <p:nvSpPr>
            <p:cNvPr id="1546" name="Google Shape;1546;p3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47" name="Google Shape;1547;p3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48" name="Google Shape;1548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9" name="Google Shape;1549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0" name="Google Shape;1550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1" name="Google Shape;1551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2" name="Google Shape;1552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3" name="Google Shape;1553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4" name="Google Shape;1554;p3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5" name="Google Shape;1555;p3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6" name="Google Shape;1556;p3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7" name="Google Shape;1557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8" name="Google Shape;1558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9" name="Google Shape;1559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0" name="Google Shape;1560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1" name="Google Shape;1561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62" name="Google Shape;1562;p34"/>
          <p:cNvGrpSpPr/>
          <p:nvPr/>
        </p:nvGrpSpPr>
        <p:grpSpPr>
          <a:xfrm rot="5400000" flipH="1">
            <a:off x="7919575" y="-2205474"/>
            <a:ext cx="2744275" cy="2727763"/>
            <a:chOff x="5985575" y="4420825"/>
            <a:chExt cx="2744275" cy="2727763"/>
          </a:xfrm>
        </p:grpSpPr>
        <p:sp>
          <p:nvSpPr>
            <p:cNvPr id="1563" name="Google Shape;1563;p3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64" name="Google Shape;1564;p3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65" name="Google Shape;1565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6" name="Google Shape;1566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7" name="Google Shape;1567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8" name="Google Shape;1568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9" name="Google Shape;1569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0" name="Google Shape;1570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1" name="Google Shape;1571;p3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2" name="Google Shape;1572;p3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3" name="Google Shape;1573;p3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4" name="Google Shape;1574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5" name="Google Shape;1575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6" name="Google Shape;1576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7" name="Google Shape;1577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8" name="Google Shape;1578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79" name="Google Shape;1579;p34"/>
          <p:cNvGrpSpPr/>
          <p:nvPr/>
        </p:nvGrpSpPr>
        <p:grpSpPr>
          <a:xfrm flipH="1">
            <a:off x="7927836" y="4405881"/>
            <a:ext cx="2577160" cy="2638569"/>
            <a:chOff x="-1115775" y="4467744"/>
            <a:chExt cx="2577160" cy="2638569"/>
          </a:xfrm>
        </p:grpSpPr>
        <p:sp>
          <p:nvSpPr>
            <p:cNvPr id="1580" name="Google Shape;1580;p3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81" name="Google Shape;1581;p3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82" name="Google Shape;1582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3" name="Google Shape;1583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4" name="Google Shape;1584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5" name="Google Shape;1585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6" name="Google Shape;1586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7" name="Google Shape;1587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8" name="Google Shape;1588;p3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9" name="Google Shape;1589;p3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0" name="Google Shape;1590;p3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1" name="Google Shape;1591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2" name="Google Shape;1592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3" name="Google Shape;1593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4" name="Google Shape;1594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5" name="Google Shape;1595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96" name="Google Shape;1596;p34"/>
          <p:cNvGrpSpPr/>
          <p:nvPr/>
        </p:nvGrpSpPr>
        <p:grpSpPr>
          <a:xfrm rot="10800000" flipH="1">
            <a:off x="-1141064" y="-2002419"/>
            <a:ext cx="2577160" cy="2638569"/>
            <a:chOff x="-1115775" y="4467744"/>
            <a:chExt cx="2577160" cy="2638569"/>
          </a:xfrm>
        </p:grpSpPr>
        <p:sp>
          <p:nvSpPr>
            <p:cNvPr id="1597" name="Google Shape;1597;p3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98" name="Google Shape;1598;p3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99" name="Google Shape;1599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0" name="Google Shape;1600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1" name="Google Shape;1601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2" name="Google Shape;1602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3" name="Google Shape;1603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4" name="Google Shape;1604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5" name="Google Shape;1605;p3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6" name="Google Shape;1606;p3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7" name="Google Shape;1607;p3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8" name="Google Shape;1608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9" name="Google Shape;1609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0" name="Google Shape;1610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1" name="Google Shape;1611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2" name="Google Shape;1612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3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8" r:id="rId4"/>
    <p:sldLayoutId id="2147483659" r:id="rId5"/>
    <p:sldLayoutId id="2147483666" r:id="rId6"/>
    <p:sldLayoutId id="2147483679" r:id="rId7"/>
    <p:sldLayoutId id="214748368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38"/>
          <p:cNvSpPr txBox="1">
            <a:spLocks noGrp="1"/>
          </p:cNvSpPr>
          <p:nvPr>
            <p:ph type="ctrTitle"/>
          </p:nvPr>
        </p:nvSpPr>
        <p:spPr>
          <a:xfrm>
            <a:off x="275831" y="395315"/>
            <a:ext cx="6713675" cy="13927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4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Global Superstore </a:t>
            </a:r>
            <a:r>
              <a:rPr lang="en-US" sz="4400" dirty="0" smtClean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- </a:t>
            </a:r>
            <a:r>
              <a:rPr lang="en-US" sz="44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Performance </a:t>
            </a:r>
            <a:r>
              <a:rPr lang="en-US" sz="4400" dirty="0" smtClean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Analysis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275831" y="1788046"/>
            <a:ext cx="4581944" cy="2548427"/>
          </a:xfrm>
        </p:spPr>
        <p:txBody>
          <a:bodyPr/>
          <a:lstStyle/>
          <a:p>
            <a:pPr marL="0" indent="0">
              <a:lnSpc>
                <a:spcPct val="133000"/>
              </a:lnSpc>
              <a:spcAft>
                <a:spcPts val="1650"/>
              </a:spcAft>
            </a:pPr>
            <a:r>
              <a:rPr lang="en-US" sz="1600" b="1" u="sng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Excel Data Analytics &amp; </a:t>
            </a:r>
            <a:r>
              <a:rPr lang="en-US" sz="1600" b="1" u="sng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PivotTable </a:t>
            </a:r>
            <a:r>
              <a:rPr lang="en-US" sz="1600" b="1" u="sng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Project</a:t>
            </a:r>
            <a:br>
              <a:rPr lang="en-US" sz="1600" b="1" u="sng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1600" u="sng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Dataset</a:t>
            </a:r>
            <a:r>
              <a:rPr lang="en-US" sz="1600" u="sng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: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Global </a:t>
            </a:r>
            <a:r>
              <a:rPr lang="en-US" sz="16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Superstore</a:t>
            </a:r>
          </a:p>
          <a:p>
            <a:pPr marL="0" indent="0">
              <a:lnSpc>
                <a:spcPct val="133000"/>
              </a:lnSpc>
            </a:pPr>
            <a:r>
              <a:rPr lang="en-US" sz="1600" u="sng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Submitted </a:t>
            </a:r>
            <a:r>
              <a:rPr lang="en-US" sz="1600" u="sng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by: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Yatika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Goyal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33000"/>
              </a:lnSpc>
            </a:pPr>
            <a:r>
              <a:rPr lang="en-US" sz="1600" u="sng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Batch Code:</a:t>
            </a:r>
            <a:r>
              <a:rPr lang="en-US" sz="16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21-EXCEL-WD-0726-SA</a:t>
            </a:r>
          </a:p>
          <a:p>
            <a:pPr marL="0" indent="0">
              <a:lnSpc>
                <a:spcPct val="133000"/>
              </a:lnSpc>
              <a:spcAft>
                <a:spcPts val="1650"/>
              </a:spcAft>
            </a:pPr>
            <a:r>
              <a:rPr lang="en-US" sz="1600" u="sng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Submitted to</a:t>
            </a:r>
            <a:r>
              <a:rPr lang="en-US" sz="1600" u="sng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:</a:t>
            </a:r>
            <a:r>
              <a:rPr lang="en-US" sz="16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Mr</a:t>
            </a:r>
            <a:r>
              <a:rPr lang="en-US" sz="16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Sagar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/>
            </a:r>
            <a:b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1600" u="sng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Submission Date:</a:t>
            </a:r>
            <a:r>
              <a:rPr lang="en-US" sz="16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17.08.2026</a:t>
            </a:r>
            <a:endParaRPr lang="en-US" sz="16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grpSp>
        <p:nvGrpSpPr>
          <p:cNvPr id="105" name="Google Shape;1889;p43"/>
          <p:cNvGrpSpPr/>
          <p:nvPr/>
        </p:nvGrpSpPr>
        <p:grpSpPr>
          <a:xfrm>
            <a:off x="5831962" y="1324280"/>
            <a:ext cx="2833748" cy="2745069"/>
            <a:chOff x="726562" y="1255007"/>
            <a:chExt cx="2833748" cy="2745069"/>
          </a:xfrm>
        </p:grpSpPr>
        <p:sp>
          <p:nvSpPr>
            <p:cNvPr id="106" name="Google Shape;1890;p43"/>
            <p:cNvSpPr/>
            <p:nvPr/>
          </p:nvSpPr>
          <p:spPr>
            <a:xfrm>
              <a:off x="1218500" y="3577625"/>
              <a:ext cx="2341810" cy="186876"/>
            </a:xfrm>
            <a:custGeom>
              <a:avLst/>
              <a:gdLst/>
              <a:ahLst/>
              <a:cxnLst/>
              <a:rect l="l" t="t" r="r" b="b"/>
              <a:pathLst>
                <a:path w="27153" h="1442" extrusionOk="0">
                  <a:moveTo>
                    <a:pt x="13571" y="1"/>
                  </a:moveTo>
                  <a:cubicBezTo>
                    <a:pt x="6082" y="1"/>
                    <a:pt x="1" y="320"/>
                    <a:pt x="1" y="716"/>
                  </a:cubicBezTo>
                  <a:cubicBezTo>
                    <a:pt x="1" y="1111"/>
                    <a:pt x="6082" y="1441"/>
                    <a:pt x="13571" y="1441"/>
                  </a:cubicBezTo>
                  <a:cubicBezTo>
                    <a:pt x="21071" y="1441"/>
                    <a:pt x="27153" y="1111"/>
                    <a:pt x="27153" y="716"/>
                  </a:cubicBezTo>
                  <a:cubicBezTo>
                    <a:pt x="27153" y="320"/>
                    <a:pt x="21071" y="1"/>
                    <a:pt x="13571" y="1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891;p43"/>
            <p:cNvSpPr/>
            <p:nvPr/>
          </p:nvSpPr>
          <p:spPr>
            <a:xfrm>
              <a:off x="1548324" y="1255007"/>
              <a:ext cx="1682159" cy="2413884"/>
            </a:xfrm>
            <a:custGeom>
              <a:avLst/>
              <a:gdLst/>
              <a:ahLst/>
              <a:cxnLst/>
              <a:rect l="l" t="t" r="r" b="b"/>
              <a:pathLst>
                <a:path w="54789" h="78898" extrusionOk="0">
                  <a:moveTo>
                    <a:pt x="1" y="0"/>
                  </a:moveTo>
                  <a:lnTo>
                    <a:pt x="1" y="78897"/>
                  </a:lnTo>
                  <a:lnTo>
                    <a:pt x="54789" y="78897"/>
                  </a:lnTo>
                  <a:lnTo>
                    <a:pt x="547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892;p43"/>
            <p:cNvSpPr/>
            <p:nvPr/>
          </p:nvSpPr>
          <p:spPr>
            <a:xfrm rot="-5400000">
              <a:off x="1103685" y="1810334"/>
              <a:ext cx="1033979" cy="26000"/>
            </a:xfrm>
            <a:custGeom>
              <a:avLst/>
              <a:gdLst/>
              <a:ahLst/>
              <a:cxnLst/>
              <a:rect l="l" t="t" r="r" b="b"/>
              <a:pathLst>
                <a:path w="11548" h="408" extrusionOk="0">
                  <a:moveTo>
                    <a:pt x="198" y="1"/>
                  </a:moveTo>
                  <a:cubicBezTo>
                    <a:pt x="88" y="1"/>
                    <a:pt x="0" y="88"/>
                    <a:pt x="0" y="198"/>
                  </a:cubicBezTo>
                  <a:cubicBezTo>
                    <a:pt x="0" y="308"/>
                    <a:pt x="88" y="407"/>
                    <a:pt x="198" y="407"/>
                  </a:cubicBezTo>
                  <a:lnTo>
                    <a:pt x="11349" y="407"/>
                  </a:lnTo>
                  <a:cubicBezTo>
                    <a:pt x="11459" y="407"/>
                    <a:pt x="11547" y="308"/>
                    <a:pt x="11547" y="198"/>
                  </a:cubicBezTo>
                  <a:cubicBezTo>
                    <a:pt x="11547" y="88"/>
                    <a:pt x="11459" y="1"/>
                    <a:pt x="11349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893;p43"/>
            <p:cNvSpPr/>
            <p:nvPr/>
          </p:nvSpPr>
          <p:spPr>
            <a:xfrm>
              <a:off x="726562" y="3813200"/>
              <a:ext cx="1612413" cy="186876"/>
            </a:xfrm>
            <a:custGeom>
              <a:avLst/>
              <a:gdLst/>
              <a:ahLst/>
              <a:cxnLst/>
              <a:rect l="l" t="t" r="r" b="b"/>
              <a:pathLst>
                <a:path w="27153" h="1442" extrusionOk="0">
                  <a:moveTo>
                    <a:pt x="13571" y="1"/>
                  </a:moveTo>
                  <a:cubicBezTo>
                    <a:pt x="6082" y="1"/>
                    <a:pt x="1" y="320"/>
                    <a:pt x="1" y="716"/>
                  </a:cubicBezTo>
                  <a:cubicBezTo>
                    <a:pt x="1" y="1111"/>
                    <a:pt x="6082" y="1441"/>
                    <a:pt x="13571" y="1441"/>
                  </a:cubicBezTo>
                  <a:cubicBezTo>
                    <a:pt x="21071" y="1441"/>
                    <a:pt x="27153" y="1111"/>
                    <a:pt x="27153" y="716"/>
                  </a:cubicBezTo>
                  <a:cubicBezTo>
                    <a:pt x="27153" y="320"/>
                    <a:pt x="21071" y="1"/>
                    <a:pt x="13571" y="1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894;p43"/>
            <p:cNvSpPr/>
            <p:nvPr/>
          </p:nvSpPr>
          <p:spPr>
            <a:xfrm>
              <a:off x="1752716" y="2110374"/>
              <a:ext cx="1306269" cy="31"/>
            </a:xfrm>
            <a:custGeom>
              <a:avLst/>
              <a:gdLst/>
              <a:ahLst/>
              <a:cxnLst/>
              <a:rect l="l" t="t" r="r" b="b"/>
              <a:pathLst>
                <a:path w="42546" h="1" fill="none" extrusionOk="0">
                  <a:moveTo>
                    <a:pt x="0" y="1"/>
                  </a:moveTo>
                  <a:lnTo>
                    <a:pt x="42546" y="1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895;p43"/>
            <p:cNvSpPr/>
            <p:nvPr/>
          </p:nvSpPr>
          <p:spPr>
            <a:xfrm>
              <a:off x="1752716" y="1394886"/>
              <a:ext cx="1133014" cy="558787"/>
            </a:xfrm>
            <a:custGeom>
              <a:avLst/>
              <a:gdLst/>
              <a:ahLst/>
              <a:cxnLst/>
              <a:rect l="l" t="t" r="r" b="b"/>
              <a:pathLst>
                <a:path w="36903" h="18264" fill="none" extrusionOk="0">
                  <a:moveTo>
                    <a:pt x="0" y="18264"/>
                  </a:moveTo>
                  <a:lnTo>
                    <a:pt x="5644" y="12649"/>
                  </a:lnTo>
                  <a:lnTo>
                    <a:pt x="10883" y="17280"/>
                  </a:lnTo>
                  <a:lnTo>
                    <a:pt x="22344" y="4719"/>
                  </a:lnTo>
                  <a:lnTo>
                    <a:pt x="25209" y="7295"/>
                  </a:lnTo>
                  <a:lnTo>
                    <a:pt x="30564" y="1940"/>
                  </a:lnTo>
                  <a:lnTo>
                    <a:pt x="36902" y="1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896;p43"/>
            <p:cNvSpPr/>
            <p:nvPr/>
          </p:nvSpPr>
          <p:spPr>
            <a:xfrm>
              <a:off x="2885730" y="1394886"/>
              <a:ext cx="31" cy="715525"/>
            </a:xfrm>
            <a:custGeom>
              <a:avLst/>
              <a:gdLst/>
              <a:ahLst/>
              <a:cxnLst/>
              <a:rect l="l" t="t" r="r" b="b"/>
              <a:pathLst>
                <a:path w="1" h="23387" fill="none" extrusionOk="0">
                  <a:moveTo>
                    <a:pt x="0" y="1"/>
                  </a:moveTo>
                  <a:lnTo>
                    <a:pt x="0" y="23387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897;p43"/>
            <p:cNvSpPr/>
            <p:nvPr/>
          </p:nvSpPr>
          <p:spPr>
            <a:xfrm>
              <a:off x="2786190" y="1424134"/>
              <a:ext cx="31" cy="689825"/>
            </a:xfrm>
            <a:custGeom>
              <a:avLst/>
              <a:gdLst/>
              <a:ahLst/>
              <a:cxnLst/>
              <a:rect l="l" t="t" r="r" b="b"/>
              <a:pathLst>
                <a:path w="1" h="22547" fill="none" extrusionOk="0">
                  <a:moveTo>
                    <a:pt x="1" y="0"/>
                  </a:moveTo>
                  <a:lnTo>
                    <a:pt x="1" y="22546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898;p43"/>
            <p:cNvSpPr/>
            <p:nvPr/>
          </p:nvSpPr>
          <p:spPr>
            <a:xfrm>
              <a:off x="2691101" y="1454239"/>
              <a:ext cx="31" cy="656171"/>
            </a:xfrm>
            <a:custGeom>
              <a:avLst/>
              <a:gdLst/>
              <a:ahLst/>
              <a:cxnLst/>
              <a:rect l="l" t="t" r="r" b="b"/>
              <a:pathLst>
                <a:path w="1" h="21447" fill="none" extrusionOk="0">
                  <a:moveTo>
                    <a:pt x="1" y="0"/>
                  </a:moveTo>
                  <a:lnTo>
                    <a:pt x="1" y="21447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899;p43"/>
            <p:cNvSpPr/>
            <p:nvPr/>
          </p:nvSpPr>
          <p:spPr>
            <a:xfrm>
              <a:off x="2604917" y="1540119"/>
              <a:ext cx="31" cy="570291"/>
            </a:xfrm>
            <a:custGeom>
              <a:avLst/>
              <a:gdLst/>
              <a:ahLst/>
              <a:cxnLst/>
              <a:rect l="l" t="t" r="r" b="b"/>
              <a:pathLst>
                <a:path w="1" h="18640" fill="none" extrusionOk="0">
                  <a:moveTo>
                    <a:pt x="0" y="1"/>
                  </a:moveTo>
                  <a:lnTo>
                    <a:pt x="0" y="18640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900;p43"/>
            <p:cNvSpPr/>
            <p:nvPr/>
          </p:nvSpPr>
          <p:spPr>
            <a:xfrm>
              <a:off x="2526716" y="1618044"/>
              <a:ext cx="31" cy="492365"/>
            </a:xfrm>
            <a:custGeom>
              <a:avLst/>
              <a:gdLst/>
              <a:ahLst/>
              <a:cxnLst/>
              <a:rect l="l" t="t" r="r" b="b"/>
              <a:pathLst>
                <a:path w="1" h="16093" fill="none" extrusionOk="0">
                  <a:moveTo>
                    <a:pt x="0" y="1"/>
                  </a:moveTo>
                  <a:lnTo>
                    <a:pt x="0" y="16093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901;p43"/>
            <p:cNvSpPr/>
            <p:nvPr/>
          </p:nvSpPr>
          <p:spPr>
            <a:xfrm>
              <a:off x="2438720" y="1539232"/>
              <a:ext cx="31" cy="571178"/>
            </a:xfrm>
            <a:custGeom>
              <a:avLst/>
              <a:gdLst/>
              <a:ahLst/>
              <a:cxnLst/>
              <a:rect l="l" t="t" r="r" b="b"/>
              <a:pathLst>
                <a:path w="1" h="18669" fill="none" extrusionOk="0">
                  <a:moveTo>
                    <a:pt x="1" y="1"/>
                  </a:moveTo>
                  <a:lnTo>
                    <a:pt x="1" y="18669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902;p43"/>
            <p:cNvSpPr/>
            <p:nvPr/>
          </p:nvSpPr>
          <p:spPr>
            <a:xfrm>
              <a:off x="2360550" y="1625142"/>
              <a:ext cx="31" cy="485267"/>
            </a:xfrm>
            <a:custGeom>
              <a:avLst/>
              <a:gdLst/>
              <a:ahLst/>
              <a:cxnLst/>
              <a:rect l="l" t="t" r="r" b="b"/>
              <a:pathLst>
                <a:path w="1" h="15861" fill="none" extrusionOk="0">
                  <a:moveTo>
                    <a:pt x="0" y="0"/>
                  </a:moveTo>
                  <a:lnTo>
                    <a:pt x="0" y="15861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903;p43"/>
            <p:cNvSpPr/>
            <p:nvPr/>
          </p:nvSpPr>
          <p:spPr>
            <a:xfrm>
              <a:off x="2273444" y="1720750"/>
              <a:ext cx="31" cy="389658"/>
            </a:xfrm>
            <a:custGeom>
              <a:avLst/>
              <a:gdLst/>
              <a:ahLst/>
              <a:cxnLst/>
              <a:rect l="l" t="t" r="r" b="b"/>
              <a:pathLst>
                <a:path w="1" h="12736" fill="none" extrusionOk="0">
                  <a:moveTo>
                    <a:pt x="1" y="1"/>
                  </a:moveTo>
                  <a:lnTo>
                    <a:pt x="1" y="12736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904;p43"/>
            <p:cNvSpPr/>
            <p:nvPr/>
          </p:nvSpPr>
          <p:spPr>
            <a:xfrm>
              <a:off x="2182808" y="1818164"/>
              <a:ext cx="31" cy="292243"/>
            </a:xfrm>
            <a:custGeom>
              <a:avLst/>
              <a:gdLst/>
              <a:ahLst/>
              <a:cxnLst/>
              <a:rect l="l" t="t" r="r" b="b"/>
              <a:pathLst>
                <a:path w="1" h="9552" fill="none" extrusionOk="0">
                  <a:moveTo>
                    <a:pt x="1" y="1"/>
                  </a:moveTo>
                  <a:lnTo>
                    <a:pt x="1" y="9552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905;p43"/>
            <p:cNvSpPr/>
            <p:nvPr/>
          </p:nvSpPr>
          <p:spPr>
            <a:xfrm>
              <a:off x="2086830" y="1923532"/>
              <a:ext cx="31" cy="186874"/>
            </a:xfrm>
            <a:custGeom>
              <a:avLst/>
              <a:gdLst/>
              <a:ahLst/>
              <a:cxnLst/>
              <a:rect l="l" t="t" r="r" b="b"/>
              <a:pathLst>
                <a:path w="1" h="6108" fill="none" extrusionOk="0">
                  <a:moveTo>
                    <a:pt x="1" y="1"/>
                  </a:moveTo>
                  <a:lnTo>
                    <a:pt x="1" y="6108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906;p43"/>
            <p:cNvSpPr/>
            <p:nvPr/>
          </p:nvSpPr>
          <p:spPr>
            <a:xfrm>
              <a:off x="2004207" y="1851818"/>
              <a:ext cx="31" cy="256814"/>
            </a:xfrm>
            <a:custGeom>
              <a:avLst/>
              <a:gdLst/>
              <a:ahLst/>
              <a:cxnLst/>
              <a:rect l="l" t="t" r="r" b="b"/>
              <a:pathLst>
                <a:path w="1" h="8394" fill="none" extrusionOk="0">
                  <a:moveTo>
                    <a:pt x="0" y="8394"/>
                  </a:moveTo>
                  <a:lnTo>
                    <a:pt x="0" y="0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907;p43"/>
            <p:cNvSpPr/>
            <p:nvPr/>
          </p:nvSpPr>
          <p:spPr>
            <a:xfrm>
              <a:off x="1926006" y="1781848"/>
              <a:ext cx="31" cy="328560"/>
            </a:xfrm>
            <a:custGeom>
              <a:avLst/>
              <a:gdLst/>
              <a:ahLst/>
              <a:cxnLst/>
              <a:rect l="l" t="t" r="r" b="b"/>
              <a:pathLst>
                <a:path w="1" h="10739" fill="none" extrusionOk="0">
                  <a:moveTo>
                    <a:pt x="0" y="1"/>
                  </a:moveTo>
                  <a:lnTo>
                    <a:pt x="0" y="10739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908;p43"/>
            <p:cNvSpPr/>
            <p:nvPr/>
          </p:nvSpPr>
          <p:spPr>
            <a:xfrm>
              <a:off x="1847804" y="1858885"/>
              <a:ext cx="31" cy="249747"/>
            </a:xfrm>
            <a:custGeom>
              <a:avLst/>
              <a:gdLst/>
              <a:ahLst/>
              <a:cxnLst/>
              <a:rect l="l" t="t" r="r" b="b"/>
              <a:pathLst>
                <a:path w="1" h="8163" fill="none" extrusionOk="0">
                  <a:moveTo>
                    <a:pt x="0" y="1"/>
                  </a:moveTo>
                  <a:lnTo>
                    <a:pt x="0" y="8163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909;p43"/>
            <p:cNvSpPr/>
            <p:nvPr/>
          </p:nvSpPr>
          <p:spPr>
            <a:xfrm>
              <a:off x="1752716" y="1953637"/>
              <a:ext cx="31" cy="154994"/>
            </a:xfrm>
            <a:custGeom>
              <a:avLst/>
              <a:gdLst/>
              <a:ahLst/>
              <a:cxnLst/>
              <a:rect l="l" t="t" r="r" b="b"/>
              <a:pathLst>
                <a:path w="1" h="5066" fill="none" extrusionOk="0">
                  <a:moveTo>
                    <a:pt x="0" y="1"/>
                  </a:moveTo>
                  <a:lnTo>
                    <a:pt x="0" y="5066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910;p43"/>
            <p:cNvSpPr/>
            <p:nvPr/>
          </p:nvSpPr>
          <p:spPr>
            <a:xfrm>
              <a:off x="2413851" y="1514450"/>
              <a:ext cx="49799" cy="50482"/>
            </a:xfrm>
            <a:custGeom>
              <a:avLst/>
              <a:gdLst/>
              <a:ahLst/>
              <a:cxnLst/>
              <a:rect l="l" t="t" r="r" b="b"/>
              <a:pathLst>
                <a:path w="1622" h="1650" extrusionOk="0">
                  <a:moveTo>
                    <a:pt x="811" y="0"/>
                  </a:moveTo>
                  <a:cubicBezTo>
                    <a:pt x="348" y="0"/>
                    <a:pt x="1" y="376"/>
                    <a:pt x="1" y="811"/>
                  </a:cubicBezTo>
                  <a:cubicBezTo>
                    <a:pt x="1" y="1274"/>
                    <a:pt x="348" y="1650"/>
                    <a:pt x="811" y="1650"/>
                  </a:cubicBezTo>
                  <a:cubicBezTo>
                    <a:pt x="1245" y="1650"/>
                    <a:pt x="1621" y="1274"/>
                    <a:pt x="1621" y="811"/>
                  </a:cubicBezTo>
                  <a:cubicBezTo>
                    <a:pt x="1621" y="376"/>
                    <a:pt x="1245" y="0"/>
                    <a:pt x="8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911;p43"/>
            <p:cNvSpPr/>
            <p:nvPr/>
          </p:nvSpPr>
          <p:spPr>
            <a:xfrm>
              <a:off x="2501816" y="1593262"/>
              <a:ext cx="49799" cy="49594"/>
            </a:xfrm>
            <a:custGeom>
              <a:avLst/>
              <a:gdLst/>
              <a:ahLst/>
              <a:cxnLst/>
              <a:rect l="l" t="t" r="r" b="b"/>
              <a:pathLst>
                <a:path w="1622" h="1621" extrusionOk="0">
                  <a:moveTo>
                    <a:pt x="811" y="0"/>
                  </a:moveTo>
                  <a:cubicBezTo>
                    <a:pt x="377" y="0"/>
                    <a:pt x="1" y="347"/>
                    <a:pt x="1" y="811"/>
                  </a:cubicBezTo>
                  <a:cubicBezTo>
                    <a:pt x="1" y="1245"/>
                    <a:pt x="377" y="1621"/>
                    <a:pt x="811" y="1621"/>
                  </a:cubicBezTo>
                  <a:cubicBezTo>
                    <a:pt x="1274" y="1621"/>
                    <a:pt x="1622" y="1245"/>
                    <a:pt x="1622" y="811"/>
                  </a:cubicBezTo>
                  <a:cubicBezTo>
                    <a:pt x="1622" y="347"/>
                    <a:pt x="1274" y="0"/>
                    <a:pt x="8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912;p43"/>
            <p:cNvSpPr/>
            <p:nvPr/>
          </p:nvSpPr>
          <p:spPr>
            <a:xfrm>
              <a:off x="2335507" y="1429427"/>
              <a:ext cx="49799" cy="49625"/>
            </a:xfrm>
            <a:custGeom>
              <a:avLst/>
              <a:gdLst/>
              <a:ahLst/>
              <a:cxnLst/>
              <a:rect l="l" t="t" r="r" b="b"/>
              <a:pathLst>
                <a:path w="1622" h="1622" extrusionOk="0">
                  <a:moveTo>
                    <a:pt x="811" y="1"/>
                  </a:moveTo>
                  <a:cubicBezTo>
                    <a:pt x="348" y="1"/>
                    <a:pt x="0" y="377"/>
                    <a:pt x="0" y="811"/>
                  </a:cubicBezTo>
                  <a:cubicBezTo>
                    <a:pt x="0" y="1274"/>
                    <a:pt x="348" y="1622"/>
                    <a:pt x="811" y="1622"/>
                  </a:cubicBezTo>
                  <a:cubicBezTo>
                    <a:pt x="1245" y="1622"/>
                    <a:pt x="1621" y="1274"/>
                    <a:pt x="1621" y="811"/>
                  </a:cubicBezTo>
                  <a:cubicBezTo>
                    <a:pt x="1621" y="377"/>
                    <a:pt x="1245" y="1"/>
                    <a:pt x="8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913;p43"/>
            <p:cNvSpPr/>
            <p:nvPr/>
          </p:nvSpPr>
          <p:spPr>
            <a:xfrm>
              <a:off x="2530104" y="1370104"/>
              <a:ext cx="49799" cy="50512"/>
            </a:xfrm>
            <a:custGeom>
              <a:avLst/>
              <a:gdLst/>
              <a:ahLst/>
              <a:cxnLst/>
              <a:rect l="l" t="t" r="r" b="b"/>
              <a:pathLst>
                <a:path w="1622" h="1651" extrusionOk="0">
                  <a:moveTo>
                    <a:pt x="811" y="1"/>
                  </a:moveTo>
                  <a:cubicBezTo>
                    <a:pt x="348" y="1"/>
                    <a:pt x="1" y="377"/>
                    <a:pt x="1" y="811"/>
                  </a:cubicBezTo>
                  <a:cubicBezTo>
                    <a:pt x="1" y="1274"/>
                    <a:pt x="348" y="1650"/>
                    <a:pt x="811" y="1650"/>
                  </a:cubicBezTo>
                  <a:cubicBezTo>
                    <a:pt x="1245" y="1650"/>
                    <a:pt x="1621" y="1274"/>
                    <a:pt x="1621" y="811"/>
                  </a:cubicBezTo>
                  <a:cubicBezTo>
                    <a:pt x="1621" y="377"/>
                    <a:pt x="1245" y="1"/>
                    <a:pt x="8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914;p43"/>
            <p:cNvSpPr/>
            <p:nvPr/>
          </p:nvSpPr>
          <p:spPr>
            <a:xfrm>
              <a:off x="2061960" y="1898750"/>
              <a:ext cx="49799" cy="49625"/>
            </a:xfrm>
            <a:custGeom>
              <a:avLst/>
              <a:gdLst/>
              <a:ahLst/>
              <a:cxnLst/>
              <a:rect l="l" t="t" r="r" b="b"/>
              <a:pathLst>
                <a:path w="1622" h="1622" extrusionOk="0">
                  <a:moveTo>
                    <a:pt x="811" y="0"/>
                  </a:moveTo>
                  <a:cubicBezTo>
                    <a:pt x="377" y="0"/>
                    <a:pt x="0" y="377"/>
                    <a:pt x="0" y="811"/>
                  </a:cubicBezTo>
                  <a:cubicBezTo>
                    <a:pt x="0" y="1274"/>
                    <a:pt x="377" y="1621"/>
                    <a:pt x="811" y="1621"/>
                  </a:cubicBezTo>
                  <a:cubicBezTo>
                    <a:pt x="1274" y="1621"/>
                    <a:pt x="1621" y="1274"/>
                    <a:pt x="1621" y="811"/>
                  </a:cubicBezTo>
                  <a:cubicBezTo>
                    <a:pt x="1621" y="377"/>
                    <a:pt x="1274" y="0"/>
                    <a:pt x="8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915;p43"/>
            <p:cNvSpPr/>
            <p:nvPr/>
          </p:nvSpPr>
          <p:spPr>
            <a:xfrm>
              <a:off x="1900215" y="1757066"/>
              <a:ext cx="50690" cy="49625"/>
            </a:xfrm>
            <a:custGeom>
              <a:avLst/>
              <a:gdLst/>
              <a:ahLst/>
              <a:cxnLst/>
              <a:rect l="l" t="t" r="r" b="b"/>
              <a:pathLst>
                <a:path w="1651" h="1622" extrusionOk="0">
                  <a:moveTo>
                    <a:pt x="840" y="0"/>
                  </a:moveTo>
                  <a:cubicBezTo>
                    <a:pt x="377" y="0"/>
                    <a:pt x="1" y="348"/>
                    <a:pt x="1" y="811"/>
                  </a:cubicBezTo>
                  <a:cubicBezTo>
                    <a:pt x="1" y="1245"/>
                    <a:pt x="377" y="1621"/>
                    <a:pt x="840" y="1621"/>
                  </a:cubicBezTo>
                  <a:cubicBezTo>
                    <a:pt x="1274" y="1621"/>
                    <a:pt x="1650" y="1245"/>
                    <a:pt x="1650" y="811"/>
                  </a:cubicBezTo>
                  <a:cubicBezTo>
                    <a:pt x="1650" y="348"/>
                    <a:pt x="1274" y="0"/>
                    <a:pt x="8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916;p43"/>
            <p:cNvSpPr/>
            <p:nvPr/>
          </p:nvSpPr>
          <p:spPr>
            <a:xfrm>
              <a:off x="1727816" y="1928855"/>
              <a:ext cx="49799" cy="49625"/>
            </a:xfrm>
            <a:custGeom>
              <a:avLst/>
              <a:gdLst/>
              <a:ahLst/>
              <a:cxnLst/>
              <a:rect l="l" t="t" r="r" b="b"/>
              <a:pathLst>
                <a:path w="1622" h="1622" extrusionOk="0">
                  <a:moveTo>
                    <a:pt x="811" y="0"/>
                  </a:moveTo>
                  <a:cubicBezTo>
                    <a:pt x="348" y="0"/>
                    <a:pt x="1" y="377"/>
                    <a:pt x="1" y="811"/>
                  </a:cubicBezTo>
                  <a:cubicBezTo>
                    <a:pt x="1" y="1274"/>
                    <a:pt x="348" y="1621"/>
                    <a:pt x="811" y="1621"/>
                  </a:cubicBezTo>
                  <a:cubicBezTo>
                    <a:pt x="1245" y="1621"/>
                    <a:pt x="1622" y="1274"/>
                    <a:pt x="1622" y="811"/>
                  </a:cubicBezTo>
                  <a:cubicBezTo>
                    <a:pt x="1622" y="377"/>
                    <a:pt x="1245" y="0"/>
                    <a:pt x="8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917;p43"/>
            <p:cNvSpPr/>
            <p:nvPr/>
          </p:nvSpPr>
          <p:spPr>
            <a:xfrm>
              <a:off x="2273444" y="2276840"/>
              <a:ext cx="785554" cy="31"/>
            </a:xfrm>
            <a:custGeom>
              <a:avLst/>
              <a:gdLst/>
              <a:ahLst/>
              <a:cxnLst/>
              <a:rect l="l" t="t" r="r" b="b"/>
              <a:pathLst>
                <a:path w="25586" h="1" fill="none" extrusionOk="0">
                  <a:moveTo>
                    <a:pt x="1" y="1"/>
                  </a:moveTo>
                  <a:lnTo>
                    <a:pt x="25586" y="1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918;p43"/>
            <p:cNvSpPr/>
            <p:nvPr/>
          </p:nvSpPr>
          <p:spPr>
            <a:xfrm>
              <a:off x="2273444" y="2335276"/>
              <a:ext cx="792677" cy="31"/>
            </a:xfrm>
            <a:custGeom>
              <a:avLst/>
              <a:gdLst/>
              <a:ahLst/>
              <a:cxnLst/>
              <a:rect l="l" t="t" r="r" b="b"/>
              <a:pathLst>
                <a:path w="25818" h="1" fill="none" extrusionOk="0">
                  <a:moveTo>
                    <a:pt x="1" y="1"/>
                  </a:moveTo>
                  <a:lnTo>
                    <a:pt x="25817" y="1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919;p43"/>
            <p:cNvSpPr/>
            <p:nvPr/>
          </p:nvSpPr>
          <p:spPr>
            <a:xfrm>
              <a:off x="2273444" y="2461907"/>
              <a:ext cx="785554" cy="31"/>
            </a:xfrm>
            <a:custGeom>
              <a:avLst/>
              <a:gdLst/>
              <a:ahLst/>
              <a:cxnLst/>
              <a:rect l="l" t="t" r="r" b="b"/>
              <a:pathLst>
                <a:path w="25586" h="1" fill="none" extrusionOk="0">
                  <a:moveTo>
                    <a:pt x="1" y="1"/>
                  </a:moveTo>
                  <a:lnTo>
                    <a:pt x="25586" y="1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920;p43"/>
            <p:cNvSpPr/>
            <p:nvPr/>
          </p:nvSpPr>
          <p:spPr>
            <a:xfrm>
              <a:off x="2273444" y="2517712"/>
              <a:ext cx="785554" cy="31"/>
            </a:xfrm>
            <a:custGeom>
              <a:avLst/>
              <a:gdLst/>
              <a:ahLst/>
              <a:cxnLst/>
              <a:rect l="l" t="t" r="r" b="b"/>
              <a:pathLst>
                <a:path w="25586" h="1" fill="none" extrusionOk="0">
                  <a:moveTo>
                    <a:pt x="1" y="0"/>
                  </a:moveTo>
                  <a:lnTo>
                    <a:pt x="25586" y="0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921;p43"/>
            <p:cNvSpPr/>
            <p:nvPr/>
          </p:nvSpPr>
          <p:spPr>
            <a:xfrm>
              <a:off x="2273444" y="2572599"/>
              <a:ext cx="785554" cy="31"/>
            </a:xfrm>
            <a:custGeom>
              <a:avLst/>
              <a:gdLst/>
              <a:ahLst/>
              <a:cxnLst/>
              <a:rect l="l" t="t" r="r" b="b"/>
              <a:pathLst>
                <a:path w="25586" h="1" fill="none" extrusionOk="0">
                  <a:moveTo>
                    <a:pt x="1" y="1"/>
                  </a:moveTo>
                  <a:lnTo>
                    <a:pt x="25586" y="1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922;p43"/>
            <p:cNvSpPr/>
            <p:nvPr/>
          </p:nvSpPr>
          <p:spPr>
            <a:xfrm>
              <a:off x="2273444" y="2628373"/>
              <a:ext cx="785554" cy="31"/>
            </a:xfrm>
            <a:custGeom>
              <a:avLst/>
              <a:gdLst/>
              <a:ahLst/>
              <a:cxnLst/>
              <a:rect l="l" t="t" r="r" b="b"/>
              <a:pathLst>
                <a:path w="25586" h="1" fill="none" extrusionOk="0">
                  <a:moveTo>
                    <a:pt x="1" y="1"/>
                  </a:moveTo>
                  <a:lnTo>
                    <a:pt x="25586" y="1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923;p43"/>
            <p:cNvSpPr/>
            <p:nvPr/>
          </p:nvSpPr>
          <p:spPr>
            <a:xfrm>
              <a:off x="2330090" y="2907306"/>
              <a:ext cx="61344" cy="156769"/>
            </a:xfrm>
            <a:custGeom>
              <a:avLst/>
              <a:gdLst/>
              <a:ahLst/>
              <a:cxnLst/>
              <a:rect l="l" t="t" r="r" b="b"/>
              <a:pathLst>
                <a:path w="1998" h="5124" extrusionOk="0">
                  <a:moveTo>
                    <a:pt x="0" y="1"/>
                  </a:moveTo>
                  <a:lnTo>
                    <a:pt x="0" y="5124"/>
                  </a:lnTo>
                  <a:lnTo>
                    <a:pt x="1997" y="5124"/>
                  </a:lnTo>
                  <a:lnTo>
                    <a:pt x="19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924;p43"/>
            <p:cNvSpPr/>
            <p:nvPr/>
          </p:nvSpPr>
          <p:spPr>
            <a:xfrm>
              <a:off x="2443874" y="2818764"/>
              <a:ext cx="60453" cy="245311"/>
            </a:xfrm>
            <a:custGeom>
              <a:avLst/>
              <a:gdLst/>
              <a:ahLst/>
              <a:cxnLst/>
              <a:rect l="l" t="t" r="r" b="b"/>
              <a:pathLst>
                <a:path w="1969" h="8018" extrusionOk="0">
                  <a:moveTo>
                    <a:pt x="1" y="1"/>
                  </a:moveTo>
                  <a:lnTo>
                    <a:pt x="1" y="8018"/>
                  </a:lnTo>
                  <a:lnTo>
                    <a:pt x="1969" y="8018"/>
                  </a:lnTo>
                  <a:lnTo>
                    <a:pt x="19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925;p43"/>
            <p:cNvSpPr/>
            <p:nvPr/>
          </p:nvSpPr>
          <p:spPr>
            <a:xfrm>
              <a:off x="2556767" y="2768283"/>
              <a:ext cx="61344" cy="295792"/>
            </a:xfrm>
            <a:custGeom>
              <a:avLst/>
              <a:gdLst/>
              <a:ahLst/>
              <a:cxnLst/>
              <a:rect l="l" t="t" r="r" b="b"/>
              <a:pathLst>
                <a:path w="1998" h="9668" extrusionOk="0">
                  <a:moveTo>
                    <a:pt x="0" y="1"/>
                  </a:moveTo>
                  <a:lnTo>
                    <a:pt x="0" y="9668"/>
                  </a:lnTo>
                  <a:lnTo>
                    <a:pt x="1997" y="9668"/>
                  </a:lnTo>
                  <a:lnTo>
                    <a:pt x="19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926;p43"/>
            <p:cNvSpPr/>
            <p:nvPr/>
          </p:nvSpPr>
          <p:spPr>
            <a:xfrm>
              <a:off x="2784335" y="2768283"/>
              <a:ext cx="61344" cy="295792"/>
            </a:xfrm>
            <a:custGeom>
              <a:avLst/>
              <a:gdLst/>
              <a:ahLst/>
              <a:cxnLst/>
              <a:rect l="l" t="t" r="r" b="b"/>
              <a:pathLst>
                <a:path w="1998" h="9668" extrusionOk="0">
                  <a:moveTo>
                    <a:pt x="0" y="1"/>
                  </a:moveTo>
                  <a:lnTo>
                    <a:pt x="0" y="9668"/>
                  </a:lnTo>
                  <a:lnTo>
                    <a:pt x="1997" y="9668"/>
                  </a:lnTo>
                  <a:lnTo>
                    <a:pt x="19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927;p43"/>
            <p:cNvSpPr/>
            <p:nvPr/>
          </p:nvSpPr>
          <p:spPr>
            <a:xfrm>
              <a:off x="2898118" y="2706298"/>
              <a:ext cx="60453" cy="357778"/>
            </a:xfrm>
            <a:custGeom>
              <a:avLst/>
              <a:gdLst/>
              <a:ahLst/>
              <a:cxnLst/>
              <a:rect l="l" t="t" r="r" b="b"/>
              <a:pathLst>
                <a:path w="1969" h="11694" extrusionOk="0">
                  <a:moveTo>
                    <a:pt x="1" y="1"/>
                  </a:moveTo>
                  <a:lnTo>
                    <a:pt x="1" y="11694"/>
                  </a:lnTo>
                  <a:lnTo>
                    <a:pt x="1969" y="11694"/>
                  </a:lnTo>
                  <a:lnTo>
                    <a:pt x="19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928;p43"/>
            <p:cNvSpPr/>
            <p:nvPr/>
          </p:nvSpPr>
          <p:spPr>
            <a:xfrm>
              <a:off x="2670551" y="2677080"/>
              <a:ext cx="61344" cy="386996"/>
            </a:xfrm>
            <a:custGeom>
              <a:avLst/>
              <a:gdLst/>
              <a:ahLst/>
              <a:cxnLst/>
              <a:rect l="l" t="t" r="r" b="b"/>
              <a:pathLst>
                <a:path w="1998" h="12649" extrusionOk="0">
                  <a:moveTo>
                    <a:pt x="0" y="1"/>
                  </a:moveTo>
                  <a:lnTo>
                    <a:pt x="0" y="12649"/>
                  </a:lnTo>
                  <a:lnTo>
                    <a:pt x="1997" y="12649"/>
                  </a:lnTo>
                  <a:lnTo>
                    <a:pt x="19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929;p43"/>
            <p:cNvSpPr/>
            <p:nvPr/>
          </p:nvSpPr>
          <p:spPr>
            <a:xfrm>
              <a:off x="2287660" y="3198629"/>
              <a:ext cx="598085" cy="162092"/>
            </a:xfrm>
            <a:custGeom>
              <a:avLst/>
              <a:gdLst/>
              <a:ahLst/>
              <a:cxnLst/>
              <a:rect l="l" t="t" r="r" b="b"/>
              <a:pathLst>
                <a:path w="19480" h="5298" extrusionOk="0">
                  <a:moveTo>
                    <a:pt x="1" y="1"/>
                  </a:moveTo>
                  <a:lnTo>
                    <a:pt x="1" y="5297"/>
                  </a:lnTo>
                  <a:lnTo>
                    <a:pt x="19479" y="5297"/>
                  </a:lnTo>
                  <a:lnTo>
                    <a:pt x="194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930;p43"/>
            <p:cNvSpPr/>
            <p:nvPr/>
          </p:nvSpPr>
          <p:spPr>
            <a:xfrm>
              <a:off x="2287660" y="3131351"/>
              <a:ext cx="821108" cy="31"/>
            </a:xfrm>
            <a:custGeom>
              <a:avLst/>
              <a:gdLst/>
              <a:ahLst/>
              <a:cxnLst/>
              <a:rect l="l" t="t" r="r" b="b"/>
              <a:pathLst>
                <a:path w="26744" h="1" fill="none" extrusionOk="0">
                  <a:moveTo>
                    <a:pt x="1" y="0"/>
                  </a:moveTo>
                  <a:lnTo>
                    <a:pt x="26744" y="0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931;p43"/>
            <p:cNvSpPr/>
            <p:nvPr/>
          </p:nvSpPr>
          <p:spPr>
            <a:xfrm>
              <a:off x="2273444" y="3438614"/>
              <a:ext cx="835323" cy="31"/>
            </a:xfrm>
            <a:custGeom>
              <a:avLst/>
              <a:gdLst/>
              <a:ahLst/>
              <a:cxnLst/>
              <a:rect l="l" t="t" r="r" b="b"/>
              <a:pathLst>
                <a:path w="27207" h="1" fill="none" extrusionOk="0">
                  <a:moveTo>
                    <a:pt x="1" y="0"/>
                  </a:moveTo>
                  <a:lnTo>
                    <a:pt x="27207" y="0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932;p43"/>
            <p:cNvSpPr/>
            <p:nvPr/>
          </p:nvSpPr>
          <p:spPr>
            <a:xfrm>
              <a:off x="2273444" y="3515651"/>
              <a:ext cx="835323" cy="918"/>
            </a:xfrm>
            <a:custGeom>
              <a:avLst/>
              <a:gdLst/>
              <a:ahLst/>
              <a:cxnLst/>
              <a:rect l="l" t="t" r="r" b="b"/>
              <a:pathLst>
                <a:path w="27207" h="30" fill="none" extrusionOk="0">
                  <a:moveTo>
                    <a:pt x="1" y="0"/>
                  </a:moveTo>
                  <a:cubicBezTo>
                    <a:pt x="406" y="29"/>
                    <a:pt x="27207" y="0"/>
                    <a:pt x="27207" y="0"/>
                  </a:cubicBez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933;p43"/>
            <p:cNvSpPr/>
            <p:nvPr/>
          </p:nvSpPr>
          <p:spPr>
            <a:xfrm>
              <a:off x="899625" y="2194510"/>
              <a:ext cx="1279619" cy="1693984"/>
            </a:xfrm>
            <a:custGeom>
              <a:avLst/>
              <a:gdLst/>
              <a:ahLst/>
              <a:cxnLst/>
              <a:rect l="l" t="t" r="r" b="b"/>
              <a:pathLst>
                <a:path w="41678" h="55368" extrusionOk="0">
                  <a:moveTo>
                    <a:pt x="0" y="0"/>
                  </a:moveTo>
                  <a:lnTo>
                    <a:pt x="0" y="55367"/>
                  </a:lnTo>
                  <a:lnTo>
                    <a:pt x="41678" y="55367"/>
                  </a:lnTo>
                  <a:lnTo>
                    <a:pt x="416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934;p43"/>
            <p:cNvSpPr/>
            <p:nvPr/>
          </p:nvSpPr>
          <p:spPr>
            <a:xfrm>
              <a:off x="977826" y="2276840"/>
              <a:ext cx="1140997" cy="370169"/>
            </a:xfrm>
            <a:custGeom>
              <a:avLst/>
              <a:gdLst/>
              <a:ahLst/>
              <a:cxnLst/>
              <a:rect l="l" t="t" r="r" b="b"/>
              <a:pathLst>
                <a:path w="37163" h="12099" extrusionOk="0">
                  <a:moveTo>
                    <a:pt x="0" y="1"/>
                  </a:moveTo>
                  <a:lnTo>
                    <a:pt x="0" y="12099"/>
                  </a:lnTo>
                  <a:lnTo>
                    <a:pt x="37163" y="12099"/>
                  </a:lnTo>
                  <a:lnTo>
                    <a:pt x="371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935;p43"/>
            <p:cNvSpPr/>
            <p:nvPr/>
          </p:nvSpPr>
          <p:spPr>
            <a:xfrm>
              <a:off x="978717" y="2747050"/>
              <a:ext cx="1108115" cy="215205"/>
            </a:xfrm>
            <a:custGeom>
              <a:avLst/>
              <a:gdLst/>
              <a:ahLst/>
              <a:cxnLst/>
              <a:rect l="l" t="t" r="r" b="b"/>
              <a:pathLst>
                <a:path w="36092" h="7034" extrusionOk="0">
                  <a:moveTo>
                    <a:pt x="0" y="0"/>
                  </a:moveTo>
                  <a:lnTo>
                    <a:pt x="0" y="7033"/>
                  </a:lnTo>
                  <a:lnTo>
                    <a:pt x="36092" y="7033"/>
                  </a:lnTo>
                  <a:lnTo>
                    <a:pt x="360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936;p43"/>
            <p:cNvSpPr/>
            <p:nvPr/>
          </p:nvSpPr>
          <p:spPr>
            <a:xfrm>
              <a:off x="978717" y="3024208"/>
              <a:ext cx="1108115" cy="214318"/>
            </a:xfrm>
            <a:custGeom>
              <a:avLst/>
              <a:gdLst/>
              <a:ahLst/>
              <a:cxnLst/>
              <a:rect l="l" t="t" r="r" b="b"/>
              <a:pathLst>
                <a:path w="36092" h="7005" extrusionOk="0">
                  <a:moveTo>
                    <a:pt x="0" y="0"/>
                  </a:moveTo>
                  <a:lnTo>
                    <a:pt x="0" y="7004"/>
                  </a:lnTo>
                  <a:lnTo>
                    <a:pt x="36092" y="7004"/>
                  </a:lnTo>
                  <a:lnTo>
                    <a:pt x="360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937;p43"/>
            <p:cNvSpPr/>
            <p:nvPr/>
          </p:nvSpPr>
          <p:spPr>
            <a:xfrm>
              <a:off x="978717" y="3300478"/>
              <a:ext cx="1108115" cy="215205"/>
            </a:xfrm>
            <a:custGeom>
              <a:avLst/>
              <a:gdLst/>
              <a:ahLst/>
              <a:cxnLst/>
              <a:rect l="l" t="t" r="r" b="b"/>
              <a:pathLst>
                <a:path w="36092" h="7034" extrusionOk="0">
                  <a:moveTo>
                    <a:pt x="0" y="0"/>
                  </a:moveTo>
                  <a:lnTo>
                    <a:pt x="0" y="7033"/>
                  </a:lnTo>
                  <a:lnTo>
                    <a:pt x="36092" y="7033"/>
                  </a:lnTo>
                  <a:lnTo>
                    <a:pt x="360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938;p43"/>
            <p:cNvSpPr/>
            <p:nvPr/>
          </p:nvSpPr>
          <p:spPr>
            <a:xfrm>
              <a:off x="978717" y="3577636"/>
              <a:ext cx="1108115" cy="214318"/>
            </a:xfrm>
            <a:custGeom>
              <a:avLst/>
              <a:gdLst/>
              <a:ahLst/>
              <a:cxnLst/>
              <a:rect l="l" t="t" r="r" b="b"/>
              <a:pathLst>
                <a:path w="36092" h="7005" extrusionOk="0">
                  <a:moveTo>
                    <a:pt x="0" y="0"/>
                  </a:moveTo>
                  <a:lnTo>
                    <a:pt x="0" y="7004"/>
                  </a:lnTo>
                  <a:lnTo>
                    <a:pt x="36092" y="7004"/>
                  </a:lnTo>
                  <a:lnTo>
                    <a:pt x="360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939;p43"/>
            <p:cNvSpPr/>
            <p:nvPr/>
          </p:nvSpPr>
          <p:spPr>
            <a:xfrm>
              <a:off x="1208869" y="2706298"/>
              <a:ext cx="68467" cy="1130822"/>
            </a:xfrm>
            <a:custGeom>
              <a:avLst/>
              <a:gdLst/>
              <a:ahLst/>
              <a:cxnLst/>
              <a:rect l="l" t="t" r="r" b="b"/>
              <a:pathLst>
                <a:path w="2230" h="36961" extrusionOk="0">
                  <a:moveTo>
                    <a:pt x="0" y="1"/>
                  </a:moveTo>
                  <a:lnTo>
                    <a:pt x="0" y="36961"/>
                  </a:lnTo>
                  <a:lnTo>
                    <a:pt x="2229" y="36961"/>
                  </a:lnTo>
                  <a:lnTo>
                    <a:pt x="22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940;p43"/>
            <p:cNvSpPr/>
            <p:nvPr/>
          </p:nvSpPr>
          <p:spPr>
            <a:xfrm>
              <a:off x="1509239" y="2706298"/>
              <a:ext cx="67545" cy="1130822"/>
            </a:xfrm>
            <a:custGeom>
              <a:avLst/>
              <a:gdLst/>
              <a:ahLst/>
              <a:cxnLst/>
              <a:rect l="l" t="t" r="r" b="b"/>
              <a:pathLst>
                <a:path w="2200" h="36961" extrusionOk="0">
                  <a:moveTo>
                    <a:pt x="0" y="1"/>
                  </a:moveTo>
                  <a:lnTo>
                    <a:pt x="0" y="36961"/>
                  </a:lnTo>
                  <a:lnTo>
                    <a:pt x="2200" y="36961"/>
                  </a:lnTo>
                  <a:lnTo>
                    <a:pt x="22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941;p43"/>
            <p:cNvSpPr/>
            <p:nvPr/>
          </p:nvSpPr>
          <p:spPr>
            <a:xfrm>
              <a:off x="1798034" y="2706298"/>
              <a:ext cx="67546" cy="1130822"/>
            </a:xfrm>
            <a:custGeom>
              <a:avLst/>
              <a:gdLst/>
              <a:ahLst/>
              <a:cxnLst/>
              <a:rect l="l" t="t" r="r" b="b"/>
              <a:pathLst>
                <a:path w="2200" h="36961" extrusionOk="0">
                  <a:moveTo>
                    <a:pt x="0" y="1"/>
                  </a:moveTo>
                  <a:lnTo>
                    <a:pt x="0" y="36961"/>
                  </a:lnTo>
                  <a:lnTo>
                    <a:pt x="2200" y="36961"/>
                  </a:lnTo>
                  <a:lnTo>
                    <a:pt x="22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942;p43"/>
            <p:cNvSpPr/>
            <p:nvPr/>
          </p:nvSpPr>
          <p:spPr>
            <a:xfrm>
              <a:off x="1327936" y="2854193"/>
              <a:ext cx="141324" cy="31"/>
            </a:xfrm>
            <a:custGeom>
              <a:avLst/>
              <a:gdLst/>
              <a:ahLst/>
              <a:cxnLst/>
              <a:rect l="l" t="t" r="r" b="b"/>
              <a:pathLst>
                <a:path w="4603" h="1" fill="none" extrusionOk="0">
                  <a:moveTo>
                    <a:pt x="1" y="0"/>
                  </a:moveTo>
                  <a:lnTo>
                    <a:pt x="4603" y="0"/>
                  </a:lnTo>
                </a:path>
              </a:pathLst>
            </a:custGeom>
            <a:noFill/>
            <a:ln w="36175" cap="flat" cmpd="sng">
              <a:solidFill>
                <a:schemeClr val="lt2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943;p43"/>
            <p:cNvSpPr/>
            <p:nvPr/>
          </p:nvSpPr>
          <p:spPr>
            <a:xfrm>
              <a:off x="1327936" y="3131351"/>
              <a:ext cx="141324" cy="31"/>
            </a:xfrm>
            <a:custGeom>
              <a:avLst/>
              <a:gdLst/>
              <a:ahLst/>
              <a:cxnLst/>
              <a:rect l="l" t="t" r="r" b="b"/>
              <a:pathLst>
                <a:path w="4603" h="1" fill="none" extrusionOk="0">
                  <a:moveTo>
                    <a:pt x="1" y="0"/>
                  </a:moveTo>
                  <a:lnTo>
                    <a:pt x="4603" y="0"/>
                  </a:lnTo>
                </a:path>
              </a:pathLst>
            </a:custGeom>
            <a:noFill/>
            <a:ln w="36175" cap="flat" cmpd="sng">
              <a:solidFill>
                <a:schemeClr val="lt2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944;p43"/>
            <p:cNvSpPr/>
            <p:nvPr/>
          </p:nvSpPr>
          <p:spPr>
            <a:xfrm>
              <a:off x="1361710" y="3043697"/>
              <a:ext cx="71997" cy="54918"/>
            </a:xfrm>
            <a:custGeom>
              <a:avLst/>
              <a:gdLst/>
              <a:ahLst/>
              <a:cxnLst/>
              <a:rect l="l" t="t" r="r" b="b"/>
              <a:pathLst>
                <a:path w="2345" h="1795" extrusionOk="0">
                  <a:moveTo>
                    <a:pt x="1187" y="0"/>
                  </a:moveTo>
                  <a:cubicBezTo>
                    <a:pt x="1" y="0"/>
                    <a:pt x="1" y="1794"/>
                    <a:pt x="1187" y="1794"/>
                  </a:cubicBezTo>
                  <a:cubicBezTo>
                    <a:pt x="2345" y="1794"/>
                    <a:pt x="2345" y="0"/>
                    <a:pt x="1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945;p43"/>
            <p:cNvSpPr/>
            <p:nvPr/>
          </p:nvSpPr>
          <p:spPr>
            <a:xfrm>
              <a:off x="1361710" y="3165005"/>
              <a:ext cx="71997" cy="55805"/>
            </a:xfrm>
            <a:custGeom>
              <a:avLst/>
              <a:gdLst/>
              <a:ahLst/>
              <a:cxnLst/>
              <a:rect l="l" t="t" r="r" b="b"/>
              <a:pathLst>
                <a:path w="2345" h="1824" extrusionOk="0">
                  <a:moveTo>
                    <a:pt x="1187" y="0"/>
                  </a:moveTo>
                  <a:cubicBezTo>
                    <a:pt x="1" y="0"/>
                    <a:pt x="1" y="1824"/>
                    <a:pt x="1187" y="1824"/>
                  </a:cubicBezTo>
                  <a:cubicBezTo>
                    <a:pt x="2345" y="1824"/>
                    <a:pt x="2345" y="0"/>
                    <a:pt x="1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946;p43"/>
            <p:cNvSpPr/>
            <p:nvPr/>
          </p:nvSpPr>
          <p:spPr>
            <a:xfrm>
              <a:off x="1865582" y="2747050"/>
              <a:ext cx="221273" cy="215205"/>
            </a:xfrm>
            <a:custGeom>
              <a:avLst/>
              <a:gdLst/>
              <a:ahLst/>
              <a:cxnLst/>
              <a:rect l="l" t="t" r="r" b="b"/>
              <a:pathLst>
                <a:path w="7207" h="7034" extrusionOk="0">
                  <a:moveTo>
                    <a:pt x="0" y="0"/>
                  </a:moveTo>
                  <a:lnTo>
                    <a:pt x="0" y="7033"/>
                  </a:lnTo>
                  <a:lnTo>
                    <a:pt x="7207" y="7033"/>
                  </a:lnTo>
                  <a:lnTo>
                    <a:pt x="72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947;p43"/>
            <p:cNvSpPr/>
            <p:nvPr/>
          </p:nvSpPr>
          <p:spPr>
            <a:xfrm>
              <a:off x="1865582" y="3024208"/>
              <a:ext cx="221273" cy="214318"/>
            </a:xfrm>
            <a:custGeom>
              <a:avLst/>
              <a:gdLst/>
              <a:ahLst/>
              <a:cxnLst/>
              <a:rect l="l" t="t" r="r" b="b"/>
              <a:pathLst>
                <a:path w="7207" h="7005" extrusionOk="0">
                  <a:moveTo>
                    <a:pt x="0" y="0"/>
                  </a:moveTo>
                  <a:lnTo>
                    <a:pt x="0" y="7004"/>
                  </a:lnTo>
                  <a:lnTo>
                    <a:pt x="7207" y="7004"/>
                  </a:lnTo>
                  <a:lnTo>
                    <a:pt x="72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948;p43"/>
            <p:cNvSpPr/>
            <p:nvPr/>
          </p:nvSpPr>
          <p:spPr>
            <a:xfrm>
              <a:off x="1865582" y="3300478"/>
              <a:ext cx="221273" cy="215205"/>
            </a:xfrm>
            <a:custGeom>
              <a:avLst/>
              <a:gdLst/>
              <a:ahLst/>
              <a:cxnLst/>
              <a:rect l="l" t="t" r="r" b="b"/>
              <a:pathLst>
                <a:path w="7207" h="7034" extrusionOk="0">
                  <a:moveTo>
                    <a:pt x="0" y="0"/>
                  </a:moveTo>
                  <a:lnTo>
                    <a:pt x="0" y="7033"/>
                  </a:lnTo>
                  <a:lnTo>
                    <a:pt x="7207" y="7033"/>
                  </a:lnTo>
                  <a:lnTo>
                    <a:pt x="72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949;p43"/>
            <p:cNvSpPr/>
            <p:nvPr/>
          </p:nvSpPr>
          <p:spPr>
            <a:xfrm>
              <a:off x="2273444" y="2706298"/>
              <a:ext cx="737566" cy="357778"/>
            </a:xfrm>
            <a:custGeom>
              <a:avLst/>
              <a:gdLst/>
              <a:ahLst/>
              <a:cxnLst/>
              <a:rect l="l" t="t" r="r" b="b"/>
              <a:pathLst>
                <a:path w="24023" h="11694" fill="none" extrusionOk="0">
                  <a:moveTo>
                    <a:pt x="1" y="1"/>
                  </a:moveTo>
                  <a:lnTo>
                    <a:pt x="1" y="11694"/>
                  </a:lnTo>
                  <a:lnTo>
                    <a:pt x="24023" y="11694"/>
                  </a:lnTo>
                </a:path>
              </a:pathLst>
            </a:custGeom>
            <a:noFill/>
            <a:ln w="9400" cap="flat" cmpd="sng">
              <a:solidFill>
                <a:schemeClr val="lt1"/>
              </a:solidFill>
              <a:prstDash val="solid"/>
              <a:miter lim="289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950;p43"/>
            <p:cNvSpPr/>
            <p:nvPr/>
          </p:nvSpPr>
          <p:spPr>
            <a:xfrm>
              <a:off x="1031335" y="2329396"/>
              <a:ext cx="1033979" cy="26000"/>
            </a:xfrm>
            <a:custGeom>
              <a:avLst/>
              <a:gdLst/>
              <a:ahLst/>
              <a:cxnLst/>
              <a:rect l="l" t="t" r="r" b="b"/>
              <a:pathLst>
                <a:path w="11548" h="408" extrusionOk="0">
                  <a:moveTo>
                    <a:pt x="198" y="1"/>
                  </a:moveTo>
                  <a:cubicBezTo>
                    <a:pt x="88" y="1"/>
                    <a:pt x="0" y="88"/>
                    <a:pt x="0" y="198"/>
                  </a:cubicBezTo>
                  <a:cubicBezTo>
                    <a:pt x="0" y="308"/>
                    <a:pt x="88" y="407"/>
                    <a:pt x="198" y="407"/>
                  </a:cubicBezTo>
                  <a:lnTo>
                    <a:pt x="11349" y="407"/>
                  </a:lnTo>
                  <a:cubicBezTo>
                    <a:pt x="11459" y="407"/>
                    <a:pt x="11547" y="308"/>
                    <a:pt x="11547" y="198"/>
                  </a:cubicBezTo>
                  <a:cubicBezTo>
                    <a:pt x="11547" y="88"/>
                    <a:pt x="11459" y="1"/>
                    <a:pt x="11349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39"/>
          <p:cNvSpPr txBox="1">
            <a:spLocks noGrp="1"/>
          </p:cNvSpPr>
          <p:nvPr>
            <p:ph type="title"/>
          </p:nvPr>
        </p:nvSpPr>
        <p:spPr>
          <a:xfrm>
            <a:off x="663219" y="220887"/>
            <a:ext cx="7717500" cy="7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4000"/>
              </a:lnSpc>
            </a:pPr>
            <a:r>
              <a:rPr lang="en-US" sz="3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1731" name="Google Shape;1731;p39"/>
          <p:cNvSpPr txBox="1"/>
          <p:nvPr/>
        </p:nvSpPr>
        <p:spPr>
          <a:xfrm>
            <a:off x="663219" y="888060"/>
            <a:ext cx="7987862" cy="740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600" dirty="0" smtClean="0">
                <a:solidFill>
                  <a:schemeClr val="accent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</a:t>
            </a:r>
            <a:r>
              <a:rPr lang="en-US" sz="1600" dirty="0">
                <a:solidFill>
                  <a:schemeClr val="accent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report uses Excel PivotTables and </a:t>
            </a:r>
            <a:r>
              <a:rPr lang="en-US" sz="1600" dirty="0" err="1">
                <a:solidFill>
                  <a:schemeClr val="accent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visualisations</a:t>
            </a:r>
            <a:r>
              <a:rPr lang="en-US" sz="1600" dirty="0">
                <a:solidFill>
                  <a:schemeClr val="accent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compare the business performance of Global Superstore between 2013 and 2014.</a:t>
            </a:r>
          </a:p>
        </p:txBody>
      </p:sp>
      <p:sp>
        <p:nvSpPr>
          <p:cNvPr id="7" name="Shape 2"/>
          <p:cNvSpPr/>
          <p:nvPr/>
        </p:nvSpPr>
        <p:spPr>
          <a:xfrm>
            <a:off x="482879" y="1771648"/>
            <a:ext cx="2491045" cy="1185863"/>
          </a:xfrm>
          <a:prstGeom prst="roundRect">
            <a:avLst>
              <a:gd name="adj" fmla="val 809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hape 5"/>
          <p:cNvSpPr/>
          <p:nvPr/>
        </p:nvSpPr>
        <p:spPr>
          <a:xfrm>
            <a:off x="3266817" y="1771648"/>
            <a:ext cx="2491045" cy="1185863"/>
          </a:xfrm>
          <a:prstGeom prst="roundRect">
            <a:avLst>
              <a:gd name="adj" fmla="val 809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hape 8"/>
          <p:cNvSpPr/>
          <p:nvPr/>
        </p:nvSpPr>
        <p:spPr>
          <a:xfrm>
            <a:off x="6050754" y="1771648"/>
            <a:ext cx="2491045" cy="1185863"/>
          </a:xfrm>
          <a:prstGeom prst="roundRect">
            <a:avLst>
              <a:gd name="adj" fmla="val 809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Shape 11"/>
          <p:cNvSpPr/>
          <p:nvPr/>
        </p:nvSpPr>
        <p:spPr>
          <a:xfrm>
            <a:off x="482879" y="3156214"/>
            <a:ext cx="2491045" cy="1542702"/>
          </a:xfrm>
          <a:prstGeom prst="roundRect">
            <a:avLst>
              <a:gd name="adj" fmla="val 6219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Shape 14"/>
          <p:cNvSpPr/>
          <p:nvPr/>
        </p:nvSpPr>
        <p:spPr>
          <a:xfrm>
            <a:off x="3266817" y="3163464"/>
            <a:ext cx="2491045" cy="1542702"/>
          </a:xfrm>
          <a:prstGeom prst="roundRect">
            <a:avLst>
              <a:gd name="adj" fmla="val 6219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Shape 17"/>
          <p:cNvSpPr/>
          <p:nvPr/>
        </p:nvSpPr>
        <p:spPr>
          <a:xfrm>
            <a:off x="6050755" y="3156214"/>
            <a:ext cx="2491045" cy="1542702"/>
          </a:xfrm>
          <a:prstGeom prst="roundRect">
            <a:avLst>
              <a:gd name="adj" fmla="val 6219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 4"/>
          <p:cNvSpPr/>
          <p:nvPr/>
        </p:nvSpPr>
        <p:spPr>
          <a:xfrm>
            <a:off x="714376" y="1963641"/>
            <a:ext cx="2161631" cy="801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04000"/>
              </a:lnSpc>
            </a:pPr>
            <a:r>
              <a:rPr lang="en-US" sz="1850" dirty="0" smtClean="0">
                <a:solidFill>
                  <a:schemeClr val="accent2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Compare </a:t>
            </a:r>
            <a:r>
              <a:rPr lang="en-US" sz="1850" dirty="0">
                <a:solidFill>
                  <a:schemeClr val="accent2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sales performance between 2013 and 2014</a:t>
            </a:r>
            <a:r>
              <a:rPr lang="en-US" sz="2000" dirty="0"/>
              <a:t>.</a:t>
            </a:r>
            <a:endParaRPr lang="en-US" sz="1850" dirty="0">
              <a:solidFill>
                <a:schemeClr val="accent2"/>
              </a:solidFill>
            </a:endParaRPr>
          </a:p>
        </p:txBody>
      </p:sp>
      <p:sp>
        <p:nvSpPr>
          <p:cNvPr id="16" name="Text 4"/>
          <p:cNvSpPr/>
          <p:nvPr/>
        </p:nvSpPr>
        <p:spPr>
          <a:xfrm>
            <a:off x="6183533" y="1907621"/>
            <a:ext cx="2230085" cy="94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70" dirty="0">
                <a:solidFill>
                  <a:schemeClr val="accent2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Examine quarterly Sales and Profit trends to identify periods of stronger or weaker performance</a:t>
            </a:r>
            <a:r>
              <a:rPr lang="en-US" sz="1470" dirty="0" smtClean="0">
                <a:solidFill>
                  <a:schemeClr val="accent2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.</a:t>
            </a:r>
            <a:endParaRPr lang="en-US" sz="1470" dirty="0">
              <a:solidFill>
                <a:schemeClr val="accent2"/>
              </a:solidFill>
            </a:endParaRPr>
          </a:p>
        </p:txBody>
      </p:sp>
      <p:sp>
        <p:nvSpPr>
          <p:cNvPr id="17" name="Text 4"/>
          <p:cNvSpPr/>
          <p:nvPr/>
        </p:nvSpPr>
        <p:spPr>
          <a:xfrm>
            <a:off x="3522930" y="3233616"/>
            <a:ext cx="1978818" cy="111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70" dirty="0" smtClean="0">
                <a:solidFill>
                  <a:schemeClr val="accent2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Evaluate customer segment </a:t>
            </a:r>
            <a:r>
              <a:rPr lang="en-US" sz="1470" dirty="0">
                <a:solidFill>
                  <a:schemeClr val="accent2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and </a:t>
            </a:r>
            <a:r>
              <a:rPr lang="en-US" sz="1470" dirty="0" smtClean="0">
                <a:solidFill>
                  <a:schemeClr val="accent2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product category </a:t>
            </a:r>
            <a:r>
              <a:rPr lang="en-US" sz="1470" dirty="0">
                <a:solidFill>
                  <a:schemeClr val="accent2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performance to identify major contributors to overall business results.</a:t>
            </a:r>
          </a:p>
        </p:txBody>
      </p:sp>
      <p:sp>
        <p:nvSpPr>
          <p:cNvPr id="18" name="Text 4"/>
          <p:cNvSpPr/>
          <p:nvPr/>
        </p:nvSpPr>
        <p:spPr>
          <a:xfrm>
            <a:off x="3302535" y="1870414"/>
            <a:ext cx="2419608" cy="1083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600" dirty="0" err="1" smtClean="0">
                <a:solidFill>
                  <a:schemeClr val="accent2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Analyse</a:t>
            </a:r>
            <a:r>
              <a:rPr lang="en-US" sz="1600" dirty="0" smtClean="0">
                <a:solidFill>
                  <a:schemeClr val="accent2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</a:t>
            </a:r>
            <a:r>
              <a:rPr lang="en-US" sz="1600" dirty="0">
                <a:solidFill>
                  <a:schemeClr val="accent2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change in profit and determine whether profit grew at the same pace as sales.</a:t>
            </a:r>
          </a:p>
        </p:txBody>
      </p:sp>
      <p:sp>
        <p:nvSpPr>
          <p:cNvPr id="19" name="Text 4"/>
          <p:cNvSpPr/>
          <p:nvPr/>
        </p:nvSpPr>
        <p:spPr>
          <a:xfrm>
            <a:off x="664370" y="3357562"/>
            <a:ext cx="2211636" cy="1162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70" dirty="0" err="1" smtClean="0">
                <a:solidFill>
                  <a:schemeClr val="accent2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Analyse</a:t>
            </a:r>
            <a:r>
              <a:rPr lang="en-US" sz="1470" dirty="0" smtClean="0">
                <a:solidFill>
                  <a:schemeClr val="accent2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</a:t>
            </a:r>
            <a:r>
              <a:rPr lang="en-US" sz="1470" dirty="0">
                <a:solidFill>
                  <a:schemeClr val="accent2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regional performance and identify regions contributing significantly to Sales and Profit.</a:t>
            </a:r>
          </a:p>
        </p:txBody>
      </p:sp>
      <p:sp>
        <p:nvSpPr>
          <p:cNvPr id="20" name="Text 4"/>
          <p:cNvSpPr/>
          <p:nvPr/>
        </p:nvSpPr>
        <p:spPr>
          <a:xfrm>
            <a:off x="6183533" y="3277976"/>
            <a:ext cx="2110362" cy="10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600" dirty="0" smtClean="0">
                <a:solidFill>
                  <a:schemeClr val="accent2"/>
                </a:solidFill>
              </a:rPr>
              <a:t>Identify </a:t>
            </a:r>
            <a:r>
              <a:rPr lang="en-US" sz="1600" dirty="0">
                <a:solidFill>
                  <a:schemeClr val="accent2"/>
                </a:solidFill>
              </a:rPr>
              <a:t>key trends and areas requiring further management investigation and decision-making.</a:t>
            </a:r>
            <a:endParaRPr lang="en-US" dirty="0">
              <a:solidFill>
                <a:schemeClr val="accent2"/>
              </a:solidFill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16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40"/>
          <p:cNvSpPr txBox="1">
            <a:spLocks noGrp="1"/>
          </p:cNvSpPr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Dataset Overview</a:t>
            </a:r>
            <a:endParaRPr lang="en-US" dirty="0"/>
          </a:p>
        </p:txBody>
      </p:sp>
      <p:sp>
        <p:nvSpPr>
          <p:cNvPr id="23" name="Text 1"/>
          <p:cNvSpPr/>
          <p:nvPr/>
        </p:nvSpPr>
        <p:spPr>
          <a:xfrm>
            <a:off x="585788" y="1228925"/>
            <a:ext cx="80795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 contains the Global Superstore transactional dataset </a:t>
            </a:r>
            <a:r>
              <a:rPr lang="en-US" sz="1450" dirty="0" smtClean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- 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approximately 51,290 records spanning multiple countries, product categories, customer segments, and financial metrics. Primary analysis focuses on 2013–2014; 2011–2012 serves as historical context only.</a:t>
            </a:r>
            <a:endParaRPr lang="en-US" sz="1450" dirty="0"/>
          </a:p>
        </p:txBody>
      </p:sp>
      <p:sp>
        <p:nvSpPr>
          <p:cNvPr id="26" name="Shape 2"/>
          <p:cNvSpPr/>
          <p:nvPr/>
        </p:nvSpPr>
        <p:spPr>
          <a:xfrm>
            <a:off x="347148" y="2278855"/>
            <a:ext cx="3539886" cy="2464595"/>
          </a:xfrm>
          <a:prstGeom prst="roundRect">
            <a:avLst>
              <a:gd name="adj" fmla="val 809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Text 5"/>
          <p:cNvSpPr/>
          <p:nvPr/>
        </p:nvSpPr>
        <p:spPr>
          <a:xfrm>
            <a:off x="511037" y="2470325"/>
            <a:ext cx="34470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u="sng" dirty="0">
                <a:solidFill>
                  <a:schemeClr val="accent2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Data Fields</a:t>
            </a:r>
            <a:endParaRPr lang="en-US" sz="1850" dirty="0">
              <a:solidFill>
                <a:schemeClr val="accent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0016" y="2852415"/>
            <a:ext cx="3447018" cy="2098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Time:</a:t>
            </a:r>
            <a:r>
              <a:rPr lang="en-US" dirty="0">
                <a:solidFill>
                  <a:schemeClr val="accent2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Order Date , </a:t>
            </a:r>
            <a:r>
              <a:rPr lang="en-US" dirty="0" smtClean="0">
                <a:solidFill>
                  <a:schemeClr val="accent2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Year</a:t>
            </a:r>
            <a:endParaRPr lang="en-US" dirty="0" smtClean="0">
              <a:solidFill>
                <a:schemeClr val="accent2"/>
              </a:solidFill>
              <a:ea typeface="Nobile" pitchFamily="34" charset="-122"/>
            </a:endParaRPr>
          </a:p>
          <a:p>
            <a:pPr marL="285750" indent="-2857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accent2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Financial</a:t>
            </a:r>
            <a:r>
              <a:rPr lang="en-US" b="1" dirty="0">
                <a:solidFill>
                  <a:schemeClr val="accent2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:</a:t>
            </a:r>
            <a:r>
              <a:rPr lang="en-US" dirty="0">
                <a:solidFill>
                  <a:schemeClr val="accent2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Sales , Profit, </a:t>
            </a:r>
            <a:r>
              <a:rPr lang="en-US" dirty="0" smtClean="0">
                <a:solidFill>
                  <a:schemeClr val="accent2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Discount</a:t>
            </a:r>
          </a:p>
          <a:p>
            <a:pPr marL="285750" indent="-2857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accent2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Product</a:t>
            </a:r>
            <a:r>
              <a:rPr lang="en-US" b="1" dirty="0">
                <a:solidFill>
                  <a:schemeClr val="accent2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:</a:t>
            </a:r>
            <a:r>
              <a:rPr lang="en-US" dirty="0">
                <a:solidFill>
                  <a:schemeClr val="accent2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Category, Sub-Category</a:t>
            </a:r>
            <a:endParaRPr lang="en-US" dirty="0">
              <a:solidFill>
                <a:schemeClr val="accent2"/>
              </a:solidFill>
            </a:endParaRP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b="1" dirty="0">
                <a:solidFill>
                  <a:schemeClr val="accent2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Geography:</a:t>
            </a:r>
            <a:r>
              <a:rPr lang="en-US" dirty="0">
                <a:solidFill>
                  <a:schemeClr val="accent2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Regions, Country</a:t>
            </a:r>
            <a:endParaRPr lang="en-US" dirty="0">
              <a:solidFill>
                <a:schemeClr val="accent2"/>
              </a:solidFill>
            </a:endParaRP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n-US" b="1" dirty="0">
                <a:solidFill>
                  <a:schemeClr val="accent2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Segment:</a:t>
            </a:r>
            <a:r>
              <a:rPr lang="en-US" dirty="0">
                <a:solidFill>
                  <a:schemeClr val="accent2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Consumer, Corporate, Home </a:t>
            </a:r>
            <a:r>
              <a:rPr lang="en-US" dirty="0" smtClean="0">
                <a:solidFill>
                  <a:schemeClr val="accent2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office</a:t>
            </a: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endParaRPr lang="en-US" dirty="0" smtClean="0">
              <a:solidFill>
                <a:schemeClr val="accent2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53217" y="3043237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/>
          <p:cNvSpPr/>
          <p:nvPr/>
        </p:nvSpPr>
        <p:spPr>
          <a:xfrm>
            <a:off x="648449" y="3313274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/>
          <p:cNvSpPr/>
          <p:nvPr/>
        </p:nvSpPr>
        <p:spPr>
          <a:xfrm>
            <a:off x="648449" y="3591876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/>
          <p:cNvSpPr/>
          <p:nvPr/>
        </p:nvSpPr>
        <p:spPr>
          <a:xfrm>
            <a:off x="644440" y="4166866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/>
          <p:cNvSpPr/>
          <p:nvPr/>
        </p:nvSpPr>
        <p:spPr>
          <a:xfrm>
            <a:off x="644441" y="3855797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685572" y="2434484"/>
            <a:ext cx="2359941" cy="3311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1600" u="sng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Primary Analysis Period</a:t>
            </a:r>
            <a:endParaRPr lang="en-US" sz="1600" dirty="0"/>
          </a:p>
        </p:txBody>
      </p:sp>
      <p:sp>
        <p:nvSpPr>
          <p:cNvPr id="13" name="Rectangle 12"/>
          <p:cNvSpPr/>
          <p:nvPr/>
        </p:nvSpPr>
        <p:spPr>
          <a:xfrm>
            <a:off x="4685572" y="2942917"/>
            <a:ext cx="3745153" cy="832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spcAft>
                <a:spcPts val="1300"/>
              </a:spcAft>
            </a:pPr>
            <a:r>
              <a:rPr lang="en-US" b="1" dirty="0">
                <a:solidFill>
                  <a:schemeClr val="accent1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2013 </a:t>
            </a:r>
            <a:r>
              <a:rPr lang="en-US" b="1" dirty="0" err="1">
                <a:solidFill>
                  <a:schemeClr val="accent1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vs</a:t>
            </a:r>
            <a:r>
              <a:rPr lang="en-US" b="1" dirty="0">
                <a:solidFill>
                  <a:schemeClr val="accent1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 2014</a:t>
            </a:r>
            <a:endParaRPr lang="en-US" dirty="0">
              <a:solidFill>
                <a:schemeClr val="accent1"/>
              </a:solidFill>
            </a:endParaRPr>
          </a:p>
          <a:p>
            <a:pPr>
              <a:lnSpc>
                <a:spcPct val="133000"/>
              </a:lnSpc>
            </a:pPr>
            <a:r>
              <a:rPr lang="en-US" dirty="0">
                <a:solidFill>
                  <a:schemeClr val="accent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Secondary context: 2011–2012 only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36281" y="2278855"/>
            <a:ext cx="3500438" cy="157694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278606" y="459858"/>
            <a:ext cx="8672514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Preparation &amp; PivotTable Challenges</a:t>
            </a:r>
            <a:endParaRPr lang="en-US" sz="3500" dirty="0"/>
          </a:p>
        </p:txBody>
      </p:sp>
      <p:sp>
        <p:nvSpPr>
          <p:cNvPr id="80" name="Text 1"/>
          <p:cNvSpPr/>
          <p:nvPr/>
        </p:nvSpPr>
        <p:spPr>
          <a:xfrm>
            <a:off x="250033" y="1171576"/>
            <a:ext cx="8701087" cy="642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Several practical challenges were encountered while preparing the Excel data for PivotTable analysis. These are common in real-world datasets and must be resolved before reliable comparisons can be made.</a:t>
            </a:r>
            <a:endParaRPr lang="en-US" sz="1400" dirty="0"/>
          </a:p>
        </p:txBody>
      </p:sp>
      <p:sp>
        <p:nvSpPr>
          <p:cNvPr id="4" name="Rounded Rectangle 3"/>
          <p:cNvSpPr/>
          <p:nvPr/>
        </p:nvSpPr>
        <p:spPr>
          <a:xfrm>
            <a:off x="342898" y="1965050"/>
            <a:ext cx="4091685" cy="1299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535781" y="1965049"/>
            <a:ext cx="3893344" cy="1299645"/>
          </a:xfrm>
          <a:prstGeom prst="roundRect">
            <a:avLst/>
          </a:prstGeom>
          <a:solidFill>
            <a:srgbClr val="EBF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602524" y="2034947"/>
            <a:ext cx="1898277" cy="3163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4000"/>
              </a:lnSpc>
            </a:pPr>
            <a:r>
              <a:rPr lang="en-US" u="sng" dirty="0">
                <a:latin typeface="Corben" pitchFamily="34" charset="0"/>
                <a:ea typeface="Corben" pitchFamily="34" charset="-122"/>
                <a:cs typeface="Corben" pitchFamily="34" charset="-120"/>
              </a:rPr>
              <a:t>Blank / Empty Entries</a:t>
            </a:r>
            <a:endParaRPr lang="en-US" dirty="0"/>
          </a:p>
        </p:txBody>
      </p:sp>
      <p:sp>
        <p:nvSpPr>
          <p:cNvPr id="88" name="Text 3"/>
          <p:cNvSpPr/>
          <p:nvPr/>
        </p:nvSpPr>
        <p:spPr>
          <a:xfrm>
            <a:off x="658203" y="2351316"/>
            <a:ext cx="3685195" cy="806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Empty cells appear as (blank) categories in PivotTables, creating untidy or misleading summaries and charts.</a:t>
            </a:r>
            <a:endParaRPr lang="en-US" sz="1300" dirty="0"/>
          </a:p>
        </p:txBody>
      </p:sp>
      <p:sp>
        <p:nvSpPr>
          <p:cNvPr id="89" name="Rounded Rectangle 88"/>
          <p:cNvSpPr/>
          <p:nvPr/>
        </p:nvSpPr>
        <p:spPr>
          <a:xfrm>
            <a:off x="4622008" y="1965050"/>
            <a:ext cx="4091685" cy="1299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Rounded Rectangle 89"/>
          <p:cNvSpPr/>
          <p:nvPr/>
        </p:nvSpPr>
        <p:spPr>
          <a:xfrm>
            <a:off x="4814891" y="1965049"/>
            <a:ext cx="3893344" cy="1299645"/>
          </a:xfrm>
          <a:prstGeom prst="roundRect">
            <a:avLst/>
          </a:prstGeom>
          <a:solidFill>
            <a:srgbClr val="EBF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Rectangle 90"/>
          <p:cNvSpPr/>
          <p:nvPr/>
        </p:nvSpPr>
        <p:spPr>
          <a:xfrm>
            <a:off x="4876176" y="2021348"/>
            <a:ext cx="1598515" cy="301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4000"/>
              </a:lnSpc>
            </a:pPr>
            <a:r>
              <a:rPr lang="en-US" u="sng" dirty="0">
                <a:latin typeface="Corben" pitchFamily="34" charset="0"/>
                <a:ea typeface="Corben" pitchFamily="34" charset="-122"/>
                <a:cs typeface="Corben" pitchFamily="34" charset="-120"/>
              </a:rPr>
              <a:t>Field Consistency</a:t>
            </a:r>
            <a:endParaRPr lang="en-US" dirty="0"/>
          </a:p>
        </p:txBody>
      </p:sp>
      <p:sp>
        <p:nvSpPr>
          <p:cNvPr id="92" name="Text 3"/>
          <p:cNvSpPr/>
          <p:nvPr/>
        </p:nvSpPr>
        <p:spPr>
          <a:xfrm>
            <a:off x="4940042" y="2279122"/>
            <a:ext cx="3770922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250" dirty="0">
                <a:latin typeface="Nobile" pitchFamily="34" charset="0"/>
                <a:ea typeface="Nobile" pitchFamily="34" charset="-122"/>
                <a:cs typeface="Nobile" pitchFamily="34" charset="-120"/>
              </a:rPr>
              <a:t>PivotTables require consistent column headings and a clearly defined source range. Working and calculation areas must be separated from the core dataset.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37440" y="3415232"/>
            <a:ext cx="4091685" cy="1299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Rounded Rectangle 93"/>
          <p:cNvSpPr/>
          <p:nvPr/>
        </p:nvSpPr>
        <p:spPr>
          <a:xfrm>
            <a:off x="530323" y="3415231"/>
            <a:ext cx="3893344" cy="1299645"/>
          </a:xfrm>
          <a:prstGeom prst="roundRect">
            <a:avLst/>
          </a:prstGeom>
          <a:solidFill>
            <a:srgbClr val="EBF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Rectangle 94"/>
          <p:cNvSpPr/>
          <p:nvPr/>
        </p:nvSpPr>
        <p:spPr>
          <a:xfrm>
            <a:off x="597066" y="3485129"/>
            <a:ext cx="1099981" cy="301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4000"/>
              </a:lnSpc>
            </a:pPr>
            <a:r>
              <a:rPr lang="en-US" u="sng" dirty="0">
                <a:latin typeface="Corben" pitchFamily="34" charset="0"/>
                <a:ea typeface="Corben" pitchFamily="34" charset="-122"/>
                <a:cs typeface="Corben" pitchFamily="34" charset="-120"/>
              </a:rPr>
              <a:t>Data Types</a:t>
            </a:r>
            <a:endParaRPr lang="en-US" dirty="0"/>
          </a:p>
        </p:txBody>
      </p:sp>
      <p:sp>
        <p:nvSpPr>
          <p:cNvPr id="96" name="Text 3"/>
          <p:cNvSpPr/>
          <p:nvPr/>
        </p:nvSpPr>
        <p:spPr>
          <a:xfrm>
            <a:off x="615339" y="3780243"/>
            <a:ext cx="3770922" cy="806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300" dirty="0">
                <a:latin typeface="Nobile" pitchFamily="34" charset="0"/>
                <a:ea typeface="Nobile" pitchFamily="34" charset="-122"/>
                <a:cs typeface="Nobile" pitchFamily="34" charset="-120"/>
              </a:rPr>
              <a:t>Sales, Profit, Quantity, Discount, and Shipping Cost must be </a:t>
            </a:r>
            <a:r>
              <a:rPr lang="en-US" sz="1300" dirty="0" err="1">
                <a:latin typeface="Nobile" pitchFamily="34" charset="0"/>
                <a:ea typeface="Nobile" pitchFamily="34" charset="-122"/>
                <a:cs typeface="Nobile" pitchFamily="34" charset="-120"/>
              </a:rPr>
              <a:t>recognised</a:t>
            </a:r>
            <a:r>
              <a:rPr lang="en-US" sz="1300" dirty="0">
                <a:latin typeface="Nobile" pitchFamily="34" charset="0"/>
                <a:ea typeface="Nobile" pitchFamily="34" charset="-122"/>
                <a:cs typeface="Nobile" pitchFamily="34" charset="-120"/>
              </a:rPr>
              <a:t> as numerical fields so PivotTables correctly calculate sums and averages.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616550" y="3415231"/>
            <a:ext cx="4091685" cy="1299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Rounded Rectangle 97"/>
          <p:cNvSpPr/>
          <p:nvPr/>
        </p:nvSpPr>
        <p:spPr>
          <a:xfrm>
            <a:off x="4809433" y="3415230"/>
            <a:ext cx="3893344" cy="1299645"/>
          </a:xfrm>
          <a:prstGeom prst="roundRect">
            <a:avLst/>
          </a:prstGeom>
          <a:solidFill>
            <a:srgbClr val="EBF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Rectangle 98"/>
          <p:cNvSpPr/>
          <p:nvPr/>
        </p:nvSpPr>
        <p:spPr>
          <a:xfrm>
            <a:off x="4876176" y="3485128"/>
            <a:ext cx="2175596" cy="301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4000"/>
              </a:lnSpc>
            </a:pPr>
            <a:r>
              <a:rPr lang="en-US" u="sng" dirty="0">
                <a:latin typeface="Corben" pitchFamily="34" charset="0"/>
                <a:ea typeface="Corben" pitchFamily="34" charset="-122"/>
                <a:cs typeface="Corben" pitchFamily="34" charset="-120"/>
              </a:rPr>
              <a:t>Date Handling &amp; Filtering</a:t>
            </a:r>
            <a:endParaRPr lang="en-US" dirty="0"/>
          </a:p>
        </p:txBody>
      </p:sp>
      <p:sp>
        <p:nvSpPr>
          <p:cNvPr id="100" name="Text 3"/>
          <p:cNvSpPr/>
          <p:nvPr/>
        </p:nvSpPr>
        <p:spPr>
          <a:xfrm>
            <a:off x="4931855" y="3780243"/>
            <a:ext cx="3770922" cy="806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latin typeface="Nobile" pitchFamily="34" charset="0"/>
                <a:ea typeface="Nobile" pitchFamily="34" charset="-122"/>
                <a:cs typeface="Nobile" pitchFamily="34" charset="-120"/>
              </a:rPr>
              <a:t>Order Date must be correctly </a:t>
            </a:r>
            <a:r>
              <a:rPr lang="en-US" sz="1200" dirty="0" err="1">
                <a:latin typeface="Nobile" pitchFamily="34" charset="0"/>
                <a:ea typeface="Nobile" pitchFamily="34" charset="-122"/>
                <a:cs typeface="Nobile" pitchFamily="34" charset="-120"/>
              </a:rPr>
              <a:t>recognised</a:t>
            </a:r>
            <a:r>
              <a:rPr lang="en-US" sz="1200" dirty="0">
                <a:latin typeface="Nobile" pitchFamily="34" charset="0"/>
                <a:ea typeface="Nobile" pitchFamily="34" charset="-122"/>
                <a:cs typeface="Nobile" pitchFamily="34" charset="-120"/>
              </a:rPr>
              <a:t> for yearly analysis. Consistent Year filtering is essential to ensure the 2013 </a:t>
            </a:r>
            <a:r>
              <a:rPr lang="en-US" sz="1200" dirty="0" err="1">
                <a:latin typeface="Nobile" pitchFamily="34" charset="0"/>
                <a:ea typeface="Nobile" pitchFamily="34" charset="-122"/>
                <a:cs typeface="Nobile" pitchFamily="34" charset="-120"/>
              </a:rPr>
              <a:t>vs</a:t>
            </a:r>
            <a:r>
              <a:rPr lang="en-US" sz="1200" dirty="0">
                <a:latin typeface="Nobile" pitchFamily="34" charset="0"/>
                <a:ea typeface="Nobile" pitchFamily="34" charset="-122"/>
                <a:cs typeface="Nobile" pitchFamily="34" charset="-120"/>
              </a:rPr>
              <a:t> 2014 comparison remains meaningful.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9020" y="4784772"/>
            <a:ext cx="6600825" cy="307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1" dirty="0"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Data Clean → Transform→ Filter → Pivot → Compare → Interpret→ </a:t>
            </a:r>
            <a:r>
              <a:rPr lang="en-US" sz="1200" b="1" dirty="0" err="1"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Visualisation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61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46" y="74610"/>
            <a:ext cx="8608218" cy="502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03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807244" y="0"/>
            <a:ext cx="7065169" cy="532568"/>
          </a:xfrm>
        </p:spPr>
        <p:txBody>
          <a:bodyPr/>
          <a:lstStyle/>
          <a:p>
            <a:r>
              <a:rPr lang="en-US" sz="2400" b="1" u="sng" dirty="0">
                <a:solidFill>
                  <a:schemeClr val="accent1"/>
                </a:solidFill>
              </a:rPr>
              <a:t>Regional Sales &amp; Profit by Customer Segment</a:t>
            </a:r>
            <a:endParaRPr lang="en-IN" sz="2400" b="1" u="sng" dirty="0">
              <a:solidFill>
                <a:schemeClr val="accent1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21444" y="680474"/>
            <a:ext cx="8829675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sng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kumimoji="0" lang="en-US" sz="1800" b="1" i="0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This chart compares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sales and profit across different regions and customer segments-</a:t>
            </a:r>
            <a:r>
              <a:rPr kumimoji="0" lang="en-US" sz="1600" b="1" i="0" u="none" strike="noStrike" cap="none" normalizeH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Consumer, Corporate and Home Office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. It provides an overview of how revenue and profitability are distributed across geographical and customer groups.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800" b="1" u="sng" dirty="0" smtClean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b="1" u="sng" dirty="0" smtClean="0">
                <a:solidFill>
                  <a:schemeClr val="accent1"/>
                </a:solidFill>
                <a:latin typeface="Arial" panose="020B0604020202020204" pitchFamily="34" charset="0"/>
              </a:rPr>
              <a:t>Analysis</a:t>
            </a:r>
            <a:r>
              <a:rPr lang="en-US" sz="18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:</a:t>
            </a:r>
            <a:endParaRPr lang="en-US" sz="1800" b="1" u="sng" dirty="0" smtClean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Consumer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records the highest sales across several regions, indicating its significant contribution to overall revenue.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Corporate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also shows strong sales performance across major regions.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Home Office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generally contributes less sales compared with Consumer and Corporate.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016" y="3454834"/>
            <a:ext cx="8551069" cy="15001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07179" y="3527819"/>
            <a:ext cx="823674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u="sng" dirty="0">
                <a:solidFill>
                  <a:schemeClr val="accent2"/>
                </a:solidFill>
                <a:latin typeface="Arial" panose="020B0604020202020204" pitchFamily="34" charset="0"/>
              </a:rPr>
              <a:t>Key </a:t>
            </a:r>
            <a:r>
              <a:rPr lang="en-US" sz="1800" b="1" u="sng" dirty="0" smtClean="0">
                <a:solidFill>
                  <a:schemeClr val="accent2"/>
                </a:solidFill>
                <a:latin typeface="Arial" panose="020B0604020202020204" pitchFamily="34" charset="0"/>
              </a:rPr>
              <a:t>Observation</a:t>
            </a:r>
            <a:r>
              <a:rPr lang="en-US" sz="1800" b="1" dirty="0" smtClean="0">
                <a:solidFill>
                  <a:schemeClr val="accent2"/>
                </a:solidFill>
                <a:latin typeface="Arial" panose="020B0604020202020204" pitchFamily="34" charset="0"/>
              </a:rPr>
              <a:t>:</a:t>
            </a:r>
            <a:br>
              <a:rPr lang="en-US" sz="1800" b="1" dirty="0" smtClean="0">
                <a:solidFill>
                  <a:schemeClr val="accent2"/>
                </a:solidFill>
                <a:latin typeface="Arial" panose="020B0604020202020204" pitchFamily="34" charset="0"/>
              </a:rPr>
            </a:br>
            <a:r>
              <a:rPr lang="en-US" sz="1600" b="1" dirty="0" smtClean="0">
                <a:solidFill>
                  <a:schemeClr val="accent2"/>
                </a:solidFill>
                <a:latin typeface="Arial" panose="020B0604020202020204" pitchFamily="34" charset="0"/>
              </a:rPr>
              <a:t>Consumer </a:t>
            </a: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</a:rPr>
              <a:t>is the dominant segment in terms of sales, but strong sales do not necessarily result in proportionately high profit. Therefore, both regional and segment-level profitability should be considered when evaluating business performance.</a:t>
            </a:r>
            <a:endParaRPr 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51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82" y="71438"/>
            <a:ext cx="8654115" cy="49934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378619" y="0"/>
            <a:ext cx="7750970" cy="532568"/>
          </a:xfrm>
        </p:spPr>
        <p:txBody>
          <a:bodyPr/>
          <a:lstStyle/>
          <a:p>
            <a:pPr algn="ctr"/>
            <a:r>
              <a:rPr lang="en-US" sz="2400" b="1" u="sng" dirty="0" smtClean="0">
                <a:solidFill>
                  <a:schemeClr val="accent1"/>
                </a:solidFill>
              </a:rPr>
              <a:t>Product </a:t>
            </a:r>
            <a:r>
              <a:rPr lang="en-US" sz="2400" b="1" u="sng" dirty="0">
                <a:solidFill>
                  <a:schemeClr val="accent1"/>
                </a:solidFill>
              </a:rPr>
              <a:t>Category &amp; Regional </a:t>
            </a:r>
            <a:r>
              <a:rPr lang="en-US" sz="2400" b="1" u="sng" dirty="0" smtClean="0">
                <a:solidFill>
                  <a:schemeClr val="accent1"/>
                </a:solidFill>
              </a:rPr>
              <a:t>Sales/Profit Analysis</a:t>
            </a:r>
            <a:endParaRPr lang="en-IN" sz="2400" b="1" u="sng" dirty="0">
              <a:solidFill>
                <a:schemeClr val="accent1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50016" y="388721"/>
            <a:ext cx="8829678" cy="3066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sng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kumimoji="0" lang="en-US" sz="1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sz="1600" dirty="0" smtClean="0"/>
              <a:t>This </a:t>
            </a:r>
            <a:r>
              <a:rPr lang="en-US" sz="1600" dirty="0"/>
              <a:t>chart compares </a:t>
            </a:r>
            <a:r>
              <a:rPr lang="en-US" sz="1600" b="1" dirty="0"/>
              <a:t>sales and profit across sub-categories within Furniture, Office Supplies and Technology</a:t>
            </a:r>
            <a:r>
              <a:rPr lang="en-US" sz="1600" dirty="0"/>
              <a:t>, while also showing their distribution across different regions.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b="1" u="sng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b="1" u="sng" dirty="0" smtClean="0">
                <a:solidFill>
                  <a:schemeClr val="accent1"/>
                </a:solidFill>
                <a:latin typeface="Arial" panose="020B0604020202020204" pitchFamily="34" charset="0"/>
              </a:rPr>
              <a:t>Analysis</a:t>
            </a:r>
            <a:r>
              <a:rPr lang="en-US" sz="18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sz="15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Technology</a:t>
            </a:r>
            <a:r>
              <a:rPr lang="en-US" sz="1500" dirty="0" smtClean="0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  <a:r>
              <a:rPr lang="en-US" sz="1500" dirty="0">
                <a:solidFill>
                  <a:schemeClr val="accent1"/>
                </a:solidFill>
                <a:latin typeface="Arial" panose="020B0604020202020204" pitchFamily="34" charset="0"/>
              </a:rPr>
              <a:t>shows strong sales performance, particularly across major regions. </a:t>
            </a:r>
            <a:endParaRPr lang="en-US" sz="1500" dirty="0" smtClean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1500" dirty="0" smtClean="0">
                <a:solidFill>
                  <a:schemeClr val="accent1"/>
                </a:solidFill>
                <a:latin typeface="Arial" panose="020B0604020202020204" pitchFamily="34" charset="0"/>
              </a:rPr>
              <a:t>Within </a:t>
            </a:r>
            <a:r>
              <a:rPr lang="en-US" sz="1500" dirty="0">
                <a:solidFill>
                  <a:schemeClr val="accent1"/>
                </a:solidFill>
                <a:latin typeface="Arial" panose="020B0604020202020204" pitchFamily="34" charset="0"/>
              </a:rPr>
              <a:t>Furniture, </a:t>
            </a:r>
            <a:r>
              <a:rPr lang="en-US" sz="1500" b="1" dirty="0">
                <a:solidFill>
                  <a:schemeClr val="accent1"/>
                </a:solidFill>
                <a:latin typeface="Arial" panose="020B0604020202020204" pitchFamily="34" charset="0"/>
              </a:rPr>
              <a:t>Chairs and Bookcases</a:t>
            </a:r>
            <a:r>
              <a:rPr lang="en-US" sz="1500" dirty="0">
                <a:solidFill>
                  <a:schemeClr val="accent1"/>
                </a:solidFill>
                <a:latin typeface="Arial" panose="020B0604020202020204" pitchFamily="34" charset="0"/>
              </a:rPr>
              <a:t> are among the stronger sales contributors. </a:t>
            </a:r>
            <a:endParaRPr lang="en-US" sz="1500" dirty="0" smtClean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1500" dirty="0" smtClean="0">
                <a:solidFill>
                  <a:schemeClr val="accent1"/>
                </a:solidFill>
                <a:latin typeface="Arial" panose="020B0604020202020204" pitchFamily="34" charset="0"/>
              </a:rPr>
              <a:t>In </a:t>
            </a:r>
            <a:r>
              <a:rPr lang="en-US" sz="1500" dirty="0">
                <a:solidFill>
                  <a:schemeClr val="accent1"/>
                </a:solidFill>
                <a:latin typeface="Arial" panose="020B0604020202020204" pitchFamily="34" charset="0"/>
              </a:rPr>
              <a:t>Office Supplies, </a:t>
            </a:r>
            <a:r>
              <a:rPr lang="en-US" sz="1500" b="1" dirty="0">
                <a:solidFill>
                  <a:schemeClr val="accent1"/>
                </a:solidFill>
                <a:latin typeface="Arial" panose="020B0604020202020204" pitchFamily="34" charset="0"/>
              </a:rPr>
              <a:t>Storage, Binders and Paper</a:t>
            </a:r>
            <a:r>
              <a:rPr lang="en-US" sz="1500" dirty="0">
                <a:solidFill>
                  <a:schemeClr val="accent1"/>
                </a:solidFill>
                <a:latin typeface="Arial" panose="020B0604020202020204" pitchFamily="34" charset="0"/>
              </a:rPr>
              <a:t> show notable sales activity. </a:t>
            </a:r>
            <a:endParaRPr lang="en-US" sz="1500" dirty="0" smtClean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1500" dirty="0" smtClean="0">
                <a:solidFill>
                  <a:schemeClr val="accent1"/>
                </a:solidFill>
                <a:latin typeface="Arial" panose="020B0604020202020204" pitchFamily="34" charset="0"/>
              </a:rPr>
              <a:t>Technology </a:t>
            </a:r>
            <a:r>
              <a:rPr lang="en-US" sz="1500" dirty="0">
                <a:solidFill>
                  <a:schemeClr val="accent1"/>
                </a:solidFill>
                <a:latin typeface="Arial" panose="020B0604020202020204" pitchFamily="34" charset="0"/>
              </a:rPr>
              <a:t>sub-categories such as </a:t>
            </a:r>
            <a:r>
              <a:rPr lang="en-US" sz="1500" b="1" dirty="0">
                <a:solidFill>
                  <a:schemeClr val="accent1"/>
                </a:solidFill>
                <a:latin typeface="Arial" panose="020B0604020202020204" pitchFamily="34" charset="0"/>
              </a:rPr>
              <a:t>Phones, Copiers and Accessories</a:t>
            </a:r>
            <a:r>
              <a:rPr lang="en-US" sz="1500" dirty="0">
                <a:solidFill>
                  <a:schemeClr val="accent1"/>
                </a:solidFill>
                <a:latin typeface="Arial" panose="020B0604020202020204" pitchFamily="34" charset="0"/>
              </a:rPr>
              <a:t> contribute significantly to </a:t>
            </a:r>
            <a:r>
              <a:rPr lang="en-US" sz="1500" dirty="0" smtClean="0">
                <a:solidFill>
                  <a:schemeClr val="accent1"/>
                </a:solidFill>
                <a:latin typeface="Arial" panose="020B0604020202020204" pitchFamily="34" charset="0"/>
              </a:rPr>
              <a:t>sales.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1500" dirty="0" smtClean="0">
                <a:solidFill>
                  <a:schemeClr val="accent1"/>
                </a:solidFill>
                <a:latin typeface="Arial" panose="020B0604020202020204" pitchFamily="34" charset="0"/>
              </a:rPr>
              <a:t>Profit </a:t>
            </a:r>
            <a:r>
              <a:rPr lang="en-US" sz="1500" dirty="0">
                <a:solidFill>
                  <a:schemeClr val="accent1"/>
                </a:solidFill>
                <a:latin typeface="Arial" panose="020B0604020202020204" pitchFamily="34" charset="0"/>
              </a:rPr>
              <a:t>is considerably smaller than sales across the sub-categories, indicating that high sales volume does not necessarily result in proportionately high profit.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016" y="3454834"/>
            <a:ext cx="8551069" cy="15001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07179" y="3527819"/>
            <a:ext cx="823674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u="sng" dirty="0">
                <a:solidFill>
                  <a:schemeClr val="accent2"/>
                </a:solidFill>
                <a:latin typeface="Arial" panose="020B0604020202020204" pitchFamily="34" charset="0"/>
              </a:rPr>
              <a:t>Key </a:t>
            </a:r>
            <a:r>
              <a:rPr lang="en-US" sz="1800" b="1" u="sng" dirty="0" smtClean="0">
                <a:solidFill>
                  <a:schemeClr val="accent2"/>
                </a:solidFill>
                <a:latin typeface="Arial" panose="020B0604020202020204" pitchFamily="34" charset="0"/>
              </a:rPr>
              <a:t>Observation</a:t>
            </a:r>
            <a:r>
              <a:rPr lang="en-US" sz="1800" b="1" dirty="0" smtClean="0">
                <a:solidFill>
                  <a:schemeClr val="accent2"/>
                </a:solidFill>
                <a:latin typeface="Arial" panose="020B0604020202020204" pitchFamily="34" charset="0"/>
              </a:rPr>
              <a:t>:</a:t>
            </a:r>
            <a:br>
              <a:rPr lang="en-US" sz="1800" b="1" dirty="0" smtClean="0">
                <a:solidFill>
                  <a:schemeClr val="accent2"/>
                </a:solidFill>
                <a:latin typeface="Arial" panose="020B0604020202020204" pitchFamily="34" charset="0"/>
              </a:rPr>
            </a:br>
            <a:r>
              <a:rPr lang="en-US" sz="1600" b="1" dirty="0" smtClean="0">
                <a:solidFill>
                  <a:schemeClr val="accent2"/>
                </a:solidFill>
                <a:latin typeface="Arial" panose="020B0604020202020204" pitchFamily="34" charset="0"/>
              </a:rPr>
              <a:t>Technology </a:t>
            </a: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</a:rPr>
              <a:t>contains several of the strongest-performing sub-categories by sales, while performance varies considerably across regions and products. This highlights the importance of </a:t>
            </a:r>
            <a:r>
              <a:rPr lang="en-US" sz="1600" b="1" dirty="0" err="1">
                <a:solidFill>
                  <a:schemeClr val="accent2"/>
                </a:solidFill>
                <a:latin typeface="Arial" panose="020B0604020202020204" pitchFamily="34" charset="0"/>
              </a:rPr>
              <a:t>analysing</a:t>
            </a: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</a:rPr>
              <a:t> both product-level sales and profitability when assessing overall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6790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92869" y="3714750"/>
            <a:ext cx="8951119" cy="10501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1483"/>
            <a:ext cx="9166231" cy="29361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3132" y="0"/>
            <a:ext cx="5022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 smtClean="0"/>
              <a:t>Sales </a:t>
            </a:r>
            <a:r>
              <a:rPr lang="en-US" sz="1600" b="1" u="sng" dirty="0"/>
              <a:t>Trend Across Sub-Categories by </a:t>
            </a:r>
            <a:r>
              <a:rPr lang="en-US" sz="1600" b="1" u="sng" dirty="0" smtClean="0"/>
              <a:t>Region</a:t>
            </a:r>
            <a:endParaRPr lang="en-IN" sz="1600" b="1" u="sng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10740" y="3832487"/>
            <a:ext cx="871180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Sales fluctuate considerably across sub-categories, with noticeable peaks in Chairs, Appliances, Storage, Copiers and Phones. Oceania shows particularly strong peaks in several sub-categories, indicating significant variation in regional sales performance.</a:t>
            </a:r>
          </a:p>
        </p:txBody>
      </p:sp>
    </p:spTree>
    <p:extLst>
      <p:ext uri="{BB962C8B-B14F-4D97-AF65-F5344CB8AC3E}">
        <p14:creationId xmlns:p14="http://schemas.microsoft.com/office/powerpoint/2010/main" val="382724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2989"/>
            <a:ext cx="9144000" cy="260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11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378619" y="0"/>
            <a:ext cx="7750970" cy="532568"/>
          </a:xfrm>
        </p:spPr>
        <p:txBody>
          <a:bodyPr/>
          <a:lstStyle/>
          <a:p>
            <a:pPr algn="ctr"/>
            <a:r>
              <a:rPr lang="en-US" sz="2400" b="1" u="sng" dirty="0" smtClean="0">
                <a:solidFill>
                  <a:schemeClr val="accent1"/>
                </a:solidFill>
              </a:rPr>
              <a:t>Quarterly </a:t>
            </a:r>
            <a:r>
              <a:rPr lang="en-US" sz="2400" b="1" u="sng" dirty="0">
                <a:solidFill>
                  <a:schemeClr val="accent1"/>
                </a:solidFill>
              </a:rPr>
              <a:t>Sales &amp; Profit Trend </a:t>
            </a:r>
            <a:r>
              <a:rPr lang="en-US" sz="2400" b="1" u="sng" dirty="0" smtClean="0">
                <a:solidFill>
                  <a:schemeClr val="accent1"/>
                </a:solidFill>
              </a:rPr>
              <a:t>- </a:t>
            </a:r>
            <a:r>
              <a:rPr lang="en-US" sz="2400" b="1" u="sng" dirty="0">
                <a:solidFill>
                  <a:schemeClr val="accent1"/>
                </a:solidFill>
              </a:rPr>
              <a:t>2013 </a:t>
            </a:r>
            <a:r>
              <a:rPr lang="en-US" sz="2400" b="1" u="sng" dirty="0" err="1">
                <a:solidFill>
                  <a:schemeClr val="accent1"/>
                </a:solidFill>
              </a:rPr>
              <a:t>vs</a:t>
            </a:r>
            <a:r>
              <a:rPr lang="en-US" sz="2400" b="1" u="sng" dirty="0">
                <a:solidFill>
                  <a:schemeClr val="accent1"/>
                </a:solidFill>
              </a:rPr>
              <a:t> </a:t>
            </a:r>
            <a:r>
              <a:rPr lang="en-US" sz="2400" b="1" u="sng" dirty="0" smtClean="0">
                <a:solidFill>
                  <a:schemeClr val="accent1"/>
                </a:solidFill>
              </a:rPr>
              <a:t>2014</a:t>
            </a:r>
            <a:endParaRPr lang="en-IN" sz="2400" b="1" u="sng" dirty="0">
              <a:solidFill>
                <a:schemeClr val="accent1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50015" y="394441"/>
            <a:ext cx="8865397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u="sng" dirty="0"/>
              <a:t>Explanation:</a:t>
            </a:r>
            <a:r>
              <a:rPr lang="en-US" dirty="0"/>
              <a:t/>
            </a:r>
            <a:br>
              <a:rPr lang="en-US" dirty="0"/>
            </a:br>
            <a:r>
              <a:rPr lang="en-US" sz="1600" dirty="0"/>
              <a:t>This chart compares quarter-wise Sales and Profit for 2013 and 2014, helping assess how business performance changed throughout each year.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b="1" u="sng" dirty="0"/>
              <a:t>Analysis: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1600" dirty="0"/>
              <a:t>In 2013, sales increased steadily from Q1 to Q4, while profit also showed an overall upward movement. </a:t>
            </a:r>
            <a:endParaRPr lang="en-US" sz="1600" dirty="0" smtClean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1600" dirty="0" smtClean="0"/>
              <a:t>In </a:t>
            </a:r>
            <a:r>
              <a:rPr lang="en-US" sz="1600" dirty="0"/>
              <a:t>2014, sales followed a similar upward pattern, with a noticeable increase in Q3 and the highest sales in Q4. </a:t>
            </a:r>
            <a:endParaRPr lang="en-US" sz="1600" dirty="0" smtClean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1600" dirty="0" smtClean="0"/>
              <a:t>Profit </a:t>
            </a:r>
            <a:r>
              <a:rPr lang="en-US" sz="1600" dirty="0"/>
              <a:t>also increased in 2014, with the strongest profit recorded in Q4. </a:t>
            </a:r>
            <a:endParaRPr lang="en-US" sz="1600" dirty="0" smtClean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1600" dirty="0" smtClean="0"/>
              <a:t>The </a:t>
            </a:r>
            <a:r>
              <a:rPr lang="en-US" sz="1600" dirty="0"/>
              <a:t>quarterly pattern shows some fluctuations, particularly between Q1 and Q2, but the overall direction remains positive.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016" y="3511986"/>
            <a:ext cx="8551069" cy="15001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07179" y="3642121"/>
            <a:ext cx="82367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u="sng" dirty="0">
                <a:solidFill>
                  <a:schemeClr val="accent2"/>
                </a:solidFill>
                <a:latin typeface="Arial" panose="020B0604020202020204" pitchFamily="34" charset="0"/>
              </a:rPr>
              <a:t>Key </a:t>
            </a:r>
            <a:r>
              <a:rPr lang="en-US" sz="1800" b="1" u="sng" dirty="0" smtClean="0">
                <a:solidFill>
                  <a:schemeClr val="accent2"/>
                </a:solidFill>
                <a:latin typeface="Arial" panose="020B0604020202020204" pitchFamily="34" charset="0"/>
              </a:rPr>
              <a:t>Observation</a:t>
            </a:r>
            <a:r>
              <a:rPr lang="en-US" sz="1800" b="1" dirty="0" smtClean="0">
                <a:solidFill>
                  <a:schemeClr val="accent2"/>
                </a:solidFill>
                <a:latin typeface="Arial" panose="020B0604020202020204" pitchFamily="34" charset="0"/>
              </a:rPr>
              <a:t>:</a:t>
            </a:r>
            <a:br>
              <a:rPr lang="en-US" sz="1800" b="1" dirty="0" smtClean="0">
                <a:solidFill>
                  <a:schemeClr val="accent2"/>
                </a:solidFill>
                <a:latin typeface="Arial" panose="020B0604020202020204" pitchFamily="34" charset="0"/>
              </a:rPr>
            </a:b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</a:rPr>
              <a:t>2014 outperformed 2013 in both Sales and Profit across every quarter. The strongest year-on-year improvement is visible in Q3 and Q4, with Q4 recording the highest Sales and Profit in both </a:t>
            </a:r>
            <a:r>
              <a:rPr lang="en-US" sz="1600" b="1" dirty="0" smtClean="0">
                <a:solidFill>
                  <a:schemeClr val="accent2"/>
                </a:solidFill>
                <a:latin typeface="Arial" panose="020B0604020202020204" pitchFamily="34" charset="0"/>
              </a:rPr>
              <a:t>years.</a:t>
            </a:r>
            <a:endParaRPr lang="en-US" sz="1600" b="1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58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833" y="267593"/>
            <a:ext cx="18469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u="sng" dirty="0"/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833" y="924819"/>
            <a:ext cx="45111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https://www.kaggle.com/ </a:t>
            </a:r>
            <a:r>
              <a:rPr lang="en-IN" dirty="0" smtClean="0">
                <a:sym typeface="Wingdings" panose="05000000000000000000" pitchFamily="2" charset="2"/>
              </a:rPr>
              <a:t></a:t>
            </a:r>
            <a:r>
              <a:rPr lang="en-IN" dirty="0" smtClean="0"/>
              <a:t> </a:t>
            </a:r>
            <a:r>
              <a:rPr lang="en-IN" dirty="0"/>
              <a:t>Global Superstore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833" y="1902946"/>
            <a:ext cx="5579269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 smtClean="0"/>
              <a:t>Tool Used </a:t>
            </a:r>
          </a:p>
          <a:p>
            <a:endParaRPr lang="en-US" dirty="0" smtClean="0"/>
          </a:p>
          <a:p>
            <a:r>
              <a:rPr lang="en-US" dirty="0" smtClean="0"/>
              <a:t>Microsoft </a:t>
            </a:r>
            <a:r>
              <a:rPr lang="en-US" dirty="0"/>
              <a:t>Excel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 Pivot Tables </a:t>
            </a:r>
            <a:r>
              <a:rPr lang="en-US" dirty="0"/>
              <a:t>&amp; </a:t>
            </a:r>
            <a:r>
              <a:rPr lang="en-US" dirty="0" smtClean="0"/>
              <a:t>Pivot Charts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1803213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Cost Analysis Blue variant by Slidesgo">
  <a:themeElements>
    <a:clrScheme name="Simple Light">
      <a:dk1>
        <a:srgbClr val="434343"/>
      </a:dk1>
      <a:lt1>
        <a:srgbClr val="EBF0FA"/>
      </a:lt1>
      <a:dk2>
        <a:srgbClr val="B7B7B7"/>
      </a:dk2>
      <a:lt2>
        <a:srgbClr val="234C8C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1E1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452</Words>
  <Application>Microsoft Office PowerPoint</Application>
  <PresentationFormat>On-screen Show (16:9)</PresentationFormat>
  <Paragraphs>69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Manrope Medium</vt:lpstr>
      <vt:lpstr>Manrope SemiBold</vt:lpstr>
      <vt:lpstr>Arial</vt:lpstr>
      <vt:lpstr>Inter</vt:lpstr>
      <vt:lpstr>Cambria</vt:lpstr>
      <vt:lpstr>Nobile</vt:lpstr>
      <vt:lpstr>Nobile Bold</vt:lpstr>
      <vt:lpstr>Corben</vt:lpstr>
      <vt:lpstr>Wingdings</vt:lpstr>
      <vt:lpstr>Business Cost Analysis Blue variant by Slidesgo</vt:lpstr>
      <vt:lpstr>Global Superstore - Performance Analysis</vt:lpstr>
      <vt:lpstr>Objectives</vt:lpstr>
      <vt:lpstr>Dataset Overview</vt:lpstr>
      <vt:lpstr>PowerPoint Presentation</vt:lpstr>
      <vt:lpstr>PowerPoint Presentation</vt:lpstr>
      <vt:lpstr>PowerPoint Presentation</vt:lpstr>
      <vt:lpstr>Regional Sales &amp; Profit by Customer Segment</vt:lpstr>
      <vt:lpstr>PowerPoint Presentation</vt:lpstr>
      <vt:lpstr>Product Category &amp; Regional Sales/Profit Analysis</vt:lpstr>
      <vt:lpstr>PowerPoint Presentation</vt:lpstr>
      <vt:lpstr>PowerPoint Presentation</vt:lpstr>
      <vt:lpstr>Quarterly Sales &amp; Profit Trend - 2013 vs 2014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Superstore — Performance Analysis</dc:title>
  <cp:lastModifiedBy>Microsoft account</cp:lastModifiedBy>
  <cp:revision>20</cp:revision>
  <dcterms:modified xsi:type="dcterms:W3CDTF">2026-08-19T09:52:48Z</dcterms:modified>
</cp:coreProperties>
</file>